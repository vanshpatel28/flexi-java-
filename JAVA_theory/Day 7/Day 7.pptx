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Arimo"/>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jK68wCuNrScRz+xPrGGTToyiz7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Arimo-bold.fntdata"/><Relationship Id="rId10" Type="http://schemas.openxmlformats.org/officeDocument/2006/relationships/slide" Target="slides/slide6.xml"/><Relationship Id="rId32" Type="http://schemas.openxmlformats.org/officeDocument/2006/relationships/font" Target="fonts/Arimo-regular.fntdata"/><Relationship Id="rId13" Type="http://schemas.openxmlformats.org/officeDocument/2006/relationships/slide" Target="slides/slide9.xml"/><Relationship Id="rId35" Type="http://schemas.openxmlformats.org/officeDocument/2006/relationships/font" Target="fonts/Arimo-boldItalic.fntdata"/><Relationship Id="rId12" Type="http://schemas.openxmlformats.org/officeDocument/2006/relationships/slide" Target="slides/slide8.xml"/><Relationship Id="rId34" Type="http://schemas.openxmlformats.org/officeDocument/2006/relationships/font" Target="fonts/Arimo-italic.fntdata"/><Relationship Id="rId15" Type="http://schemas.openxmlformats.org/officeDocument/2006/relationships/slide" Target="slides/slide11.xml"/><Relationship Id="rId37" Type="http://schemas.openxmlformats.org/officeDocument/2006/relationships/font" Target="fonts/Inter-bold.fntdata"/><Relationship Id="rId14" Type="http://schemas.openxmlformats.org/officeDocument/2006/relationships/slide" Target="slides/slide10.xml"/><Relationship Id="rId36" Type="http://schemas.openxmlformats.org/officeDocument/2006/relationships/font" Target="fonts/Inter-regular.fntdata"/><Relationship Id="rId17" Type="http://schemas.openxmlformats.org/officeDocument/2006/relationships/slide" Target="slides/slide13.xml"/><Relationship Id="rId39" Type="http://schemas.openxmlformats.org/officeDocument/2006/relationships/font" Target="fonts/Inter-boldItalic.fntdata"/><Relationship Id="rId16" Type="http://schemas.openxmlformats.org/officeDocument/2006/relationships/slide" Target="slides/slide12.xml"/><Relationship Id="rId38" Type="http://schemas.openxmlformats.org/officeDocument/2006/relationships/font" Target="fonts/Inter-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354e0099f5_1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354e0099f5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354e0099f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354e0099f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354e0099f5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354e0099f5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354e0099f5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354e0099f5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31c715c17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31c715c1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31c715c17d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31c715c17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5183188" y="987425"/>
            <a:ext cx="6172200" cy="4873625"/>
          </a:xfrm>
          <a:prstGeom prst="rect">
            <a:avLst/>
          </a:prstGeom>
          <a:noFill/>
          <a:ln>
            <a:noFill/>
          </a:ln>
        </p:spPr>
      </p:sp>
      <p:sp>
        <p:nvSpPr>
          <p:cNvPr id="64" name="Google Shape;64;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433137" y="232428"/>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Dynamic Method Dispatch</a:t>
            </a:r>
            <a:endParaRPr/>
          </a:p>
        </p:txBody>
      </p:sp>
      <p:sp>
        <p:nvSpPr>
          <p:cNvPr id="85" name="Google Shape;85;p1"/>
          <p:cNvSpPr txBox="1"/>
          <p:nvPr/>
        </p:nvSpPr>
        <p:spPr>
          <a:xfrm>
            <a:off x="256674" y="961799"/>
            <a:ext cx="11598442" cy="1815882"/>
          </a:xfrm>
          <a:prstGeom prst="rect">
            <a:avLst/>
          </a:prstGeom>
          <a:noFill/>
          <a:ln>
            <a:noFill/>
          </a:ln>
        </p:spPr>
        <p:txBody>
          <a:bodyPr anchorCtr="0" anchor="t" bIns="45700" lIns="91425" spcFirstLastPara="1" rIns="91425" wrap="square" tIns="45700">
            <a:spAutoFit/>
          </a:bodyPr>
          <a:lstStyle/>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Also known as </a:t>
            </a:r>
            <a:r>
              <a:rPr b="1" lang="en-US" sz="2800">
                <a:solidFill>
                  <a:schemeClr val="dk1"/>
                </a:solidFill>
                <a:latin typeface="Calibri"/>
                <a:ea typeface="Calibri"/>
                <a:cs typeface="Calibri"/>
                <a:sym typeface="Calibri"/>
              </a:rPr>
              <a:t>Runtime Polymorphism</a:t>
            </a:r>
            <a:r>
              <a:rPr lang="en-US" sz="2800">
                <a:solidFill>
                  <a:schemeClr val="dk1"/>
                </a:solidFill>
                <a:latin typeface="Calibri"/>
                <a:ea typeface="Calibri"/>
                <a:cs typeface="Calibri"/>
                <a:sym typeface="Calibri"/>
              </a:rPr>
              <a:t> in Java.</a:t>
            </a:r>
            <a:endParaRPr/>
          </a:p>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It allows a method to be overridden in the subclass and called through a superclass reference.</a:t>
            </a:r>
            <a:endParaRPr/>
          </a:p>
          <a:p>
            <a:pPr indent="-177800" lvl="0" marL="0" marR="0" rtl="0" algn="l">
              <a:spcBef>
                <a:spcPts val="0"/>
              </a:spcBef>
              <a:spcAft>
                <a:spcPts val="0"/>
              </a:spcAft>
              <a:buClr>
                <a:schemeClr val="dk1"/>
              </a:buClr>
              <a:buSzPts val="2800"/>
              <a:buFont typeface="Arial"/>
              <a:buChar char="•"/>
            </a:pPr>
            <a:r>
              <a:rPr lang="en-US" sz="2800">
                <a:solidFill>
                  <a:schemeClr val="dk1"/>
                </a:solidFill>
                <a:latin typeface="Calibri"/>
                <a:ea typeface="Calibri"/>
                <a:cs typeface="Calibri"/>
                <a:sym typeface="Calibri"/>
              </a:rPr>
              <a:t>The method that gets called is determined at </a:t>
            </a:r>
            <a:r>
              <a:rPr b="1" lang="en-US" sz="2800">
                <a:solidFill>
                  <a:schemeClr val="dk1"/>
                </a:solidFill>
                <a:latin typeface="Calibri"/>
                <a:ea typeface="Calibri"/>
                <a:cs typeface="Calibri"/>
                <a:sym typeface="Calibri"/>
              </a:rPr>
              <a:t>runtime</a:t>
            </a:r>
            <a:r>
              <a:rPr lang="en-US" sz="2800">
                <a:solidFill>
                  <a:schemeClr val="dk1"/>
                </a:solidFill>
                <a:latin typeface="Calibri"/>
                <a:ea typeface="Calibri"/>
                <a:cs typeface="Calibri"/>
                <a:sym typeface="Calibri"/>
              </a:rPr>
              <a:t>, not compile-time.</a:t>
            </a:r>
            <a:endParaRPr/>
          </a:p>
        </p:txBody>
      </p:sp>
      <p:sp>
        <p:nvSpPr>
          <p:cNvPr id="86" name="Google Shape;86;p1"/>
          <p:cNvSpPr txBox="1"/>
          <p:nvPr/>
        </p:nvSpPr>
        <p:spPr>
          <a:xfrm>
            <a:off x="256673" y="2926158"/>
            <a:ext cx="11710737"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Key Concepts</a:t>
            </a:r>
            <a:endParaRPr/>
          </a:p>
          <a:p>
            <a:pPr indent="0" lvl="0" marL="0" marR="0" rtl="0" algn="l">
              <a:spcBef>
                <a:spcPts val="0"/>
              </a:spcBef>
              <a:spcAft>
                <a:spcPts val="0"/>
              </a:spcAft>
              <a:buNone/>
            </a:pPr>
            <a:r>
              <a:t/>
            </a:r>
            <a:endParaRPr b="1" sz="2400">
              <a:solidFill>
                <a:schemeClr val="dk1"/>
              </a:solidFill>
              <a:latin typeface="Calibri"/>
              <a:ea typeface="Calibri"/>
              <a:cs typeface="Calibri"/>
              <a:sym typeface="Calibri"/>
            </a:endParaRPr>
          </a:p>
          <a:p>
            <a:pPr indent="-152400" lvl="0" marL="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Method Overriding:</a:t>
            </a:r>
            <a:r>
              <a:rPr lang="en-US" sz="2400">
                <a:solidFill>
                  <a:schemeClr val="dk1"/>
                </a:solidFill>
                <a:latin typeface="Calibri"/>
                <a:ea typeface="Calibri"/>
                <a:cs typeface="Calibri"/>
                <a:sym typeface="Calibri"/>
              </a:rPr>
              <a:t> A subclass provides a specific implementation of a method that is already defined in its superclass.</a:t>
            </a:r>
            <a:endParaRPr/>
          </a:p>
          <a:p>
            <a:pPr indent="-152400" lvl="0" marL="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Upcasting:</a:t>
            </a:r>
            <a:r>
              <a:rPr lang="en-US" sz="2400">
                <a:solidFill>
                  <a:schemeClr val="dk1"/>
                </a:solidFill>
                <a:latin typeface="Calibri"/>
                <a:ea typeface="Calibri"/>
                <a:cs typeface="Calibri"/>
                <a:sym typeface="Calibri"/>
              </a:rPr>
              <a:t> A subclass object is referenced by a superclass reference variable.</a:t>
            </a:r>
            <a:endParaRPr/>
          </a:p>
          <a:p>
            <a:pPr indent="-152400" lvl="0" marL="0" marR="0" rtl="0" algn="l">
              <a:spcBef>
                <a:spcPts val="0"/>
              </a:spcBef>
              <a:spcAft>
                <a:spcPts val="0"/>
              </a:spcAft>
              <a:buClr>
                <a:schemeClr val="dk1"/>
              </a:buClr>
              <a:buSzPts val="2400"/>
              <a:buFont typeface="Arial"/>
              <a:buChar char="•"/>
            </a:pPr>
            <a:r>
              <a:rPr b="1" lang="en-US" sz="2400">
                <a:solidFill>
                  <a:schemeClr val="dk1"/>
                </a:solidFill>
                <a:latin typeface="Calibri"/>
                <a:ea typeface="Calibri"/>
                <a:cs typeface="Calibri"/>
                <a:sym typeface="Calibri"/>
              </a:rPr>
              <a:t>Dynamic Binding:</a:t>
            </a:r>
            <a:r>
              <a:rPr lang="en-US" sz="2400">
                <a:solidFill>
                  <a:schemeClr val="dk1"/>
                </a:solidFill>
                <a:latin typeface="Calibri"/>
                <a:ea typeface="Calibri"/>
                <a:cs typeface="Calibri"/>
                <a:sym typeface="Calibri"/>
              </a:rPr>
              <a:t> Java determines the method to execute at runtime.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2"/>
          <p:cNvPicPr preferRelativeResize="0"/>
          <p:nvPr/>
        </p:nvPicPr>
        <p:blipFill rotWithShape="1">
          <a:blip r:embed="rId3">
            <a:alphaModFix/>
          </a:blip>
          <a:srcRect b="0" l="0" r="0" t="0"/>
          <a:stretch/>
        </p:blipFill>
        <p:spPr>
          <a:xfrm>
            <a:off x="0" y="0"/>
            <a:ext cx="6201640" cy="6858000"/>
          </a:xfrm>
          <a:prstGeom prst="rect">
            <a:avLst/>
          </a:prstGeom>
          <a:noFill/>
          <a:ln>
            <a:noFill/>
          </a:ln>
        </p:spPr>
      </p:pic>
      <p:sp>
        <p:nvSpPr>
          <p:cNvPr id="92" name="Google Shape;92;p2"/>
          <p:cNvSpPr/>
          <p:nvPr/>
        </p:nvSpPr>
        <p:spPr>
          <a:xfrm>
            <a:off x="6201640" y="399965"/>
            <a:ext cx="5990360" cy="3108543"/>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chemeClr val="dk1"/>
                </a:solidFill>
                <a:latin typeface="Arial"/>
                <a:ea typeface="Arial"/>
                <a:cs typeface="Arial"/>
                <a:sym typeface="Arial"/>
              </a:rPr>
              <a:t>Reference Type Determines Accessible Members:</a:t>
            </a:r>
            <a:endParaRPr b="0" i="0" sz="20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en-US" sz="2000" u="none" cap="none" strike="noStrike">
                <a:solidFill>
                  <a:schemeClr val="dk1"/>
                </a:solidFill>
                <a:latin typeface="Arial"/>
                <a:ea typeface="Arial"/>
                <a:cs typeface="Arial"/>
                <a:sym typeface="Arial"/>
              </a:rPr>
              <a:t>Only methods defined in the reference type can be accessed.</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2000" u="none" cap="none" strike="noStrike">
                <a:solidFill>
                  <a:schemeClr val="dk1"/>
                </a:solidFill>
                <a:latin typeface="Arial"/>
                <a:ea typeface="Arial"/>
                <a:cs typeface="Arial"/>
                <a:sym typeface="Arial"/>
              </a:rPr>
              <a:t>Object Type Determines Execution:</a:t>
            </a:r>
            <a:endParaRPr b="0" i="0" sz="20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en-US" sz="2000" u="none" cap="none" strike="noStrike">
                <a:solidFill>
                  <a:schemeClr val="dk1"/>
                </a:solidFill>
                <a:latin typeface="Arial"/>
                <a:ea typeface="Arial"/>
                <a:cs typeface="Arial"/>
                <a:sym typeface="Arial"/>
              </a:rPr>
              <a:t>The overridden method in the subclass is executed even when called via the superclass reference.</a:t>
            </a:r>
            <a:endParaRPr/>
          </a:p>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Arial"/>
              <a:ea typeface="Arial"/>
              <a:cs typeface="Arial"/>
              <a:sym typeface="Arial"/>
            </a:endParaRPr>
          </a:p>
        </p:txBody>
      </p:sp>
      <p:sp>
        <p:nvSpPr>
          <p:cNvPr id="93" name="Google Shape;93;p2"/>
          <p:cNvSpPr txBox="1"/>
          <p:nvPr/>
        </p:nvSpPr>
        <p:spPr>
          <a:xfrm>
            <a:off x="6201640" y="3541641"/>
            <a:ext cx="5990360" cy="32316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Why Use Dynamic Method Dispatch?</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Encapsulation &amp; Flexibility:</a:t>
            </a:r>
            <a:r>
              <a:rPr lang="en-US" sz="2000">
                <a:solidFill>
                  <a:schemeClr val="dk1"/>
                </a:solidFill>
                <a:latin typeface="Calibri"/>
                <a:ea typeface="Calibri"/>
                <a:cs typeface="Calibri"/>
                <a:sym typeface="Calibri"/>
              </a:rPr>
              <a:t> Allows calling methods without knowing the exact object type at compile-time.</a:t>
            </a:r>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Code Reusability:</a:t>
            </a:r>
            <a:r>
              <a:rPr lang="en-US" sz="2000">
                <a:solidFill>
                  <a:schemeClr val="dk1"/>
                </a:solidFill>
                <a:latin typeface="Calibri"/>
                <a:ea typeface="Calibri"/>
                <a:cs typeface="Calibri"/>
                <a:sym typeface="Calibri"/>
              </a:rPr>
              <a:t> Reduces code duplication by enabling common behaviors in the </a:t>
            </a:r>
            <a:r>
              <a:rPr lang="en-US" sz="2400">
                <a:solidFill>
                  <a:schemeClr val="dk1"/>
                </a:solidFill>
                <a:latin typeface="Calibri"/>
                <a:ea typeface="Calibri"/>
                <a:cs typeface="Calibri"/>
                <a:sym typeface="Calibri"/>
              </a:rPr>
              <a:t>superclass</a:t>
            </a: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Extensibility:</a:t>
            </a:r>
            <a:r>
              <a:rPr lang="en-US" sz="2000">
                <a:solidFill>
                  <a:schemeClr val="dk1"/>
                </a:solidFill>
                <a:latin typeface="Calibri"/>
                <a:ea typeface="Calibri"/>
                <a:cs typeface="Calibri"/>
                <a:sym typeface="Calibri"/>
              </a:rPr>
              <a:t> New subclasses can override methods without modifying existing code.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nvSpPr>
        <p:spPr>
          <a:xfrm>
            <a:off x="358588" y="917697"/>
            <a:ext cx="6096000" cy="62478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class Animal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void sound()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System.out.println("Animal makes a sound");</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class Dog extends Animal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@Override</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void sound()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System.out.println("Dog barks");</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class Cat extends Animal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@Override</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void sound()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System.out.println("Cat meows");</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99" name="Google Shape;99;p3"/>
          <p:cNvSpPr txBox="1"/>
          <p:nvPr/>
        </p:nvSpPr>
        <p:spPr>
          <a:xfrm>
            <a:off x="6096000" y="917697"/>
            <a:ext cx="6096000"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public class TestPolymorphism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Animal a;</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 = new Dog();</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a.sound();  // Calls Dog's sound method</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 = new Cat();</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a.sound();  // Calls Cat's sound method</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p:txBody>
      </p:sp>
      <p:sp>
        <p:nvSpPr>
          <p:cNvPr id="100" name="Google Shape;100;p3"/>
          <p:cNvSpPr txBox="1"/>
          <p:nvPr/>
        </p:nvSpPr>
        <p:spPr>
          <a:xfrm>
            <a:off x="5667890" y="5480285"/>
            <a:ext cx="6096000"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Method must be </a:t>
            </a:r>
            <a:r>
              <a:rPr b="1" lang="en-US" sz="1800">
                <a:solidFill>
                  <a:schemeClr val="dk1"/>
                </a:solidFill>
                <a:latin typeface="Calibri"/>
                <a:ea typeface="Calibri"/>
                <a:cs typeface="Calibri"/>
                <a:sym typeface="Calibri"/>
              </a:rPr>
              <a:t>overridden</a:t>
            </a:r>
            <a:r>
              <a:rPr lang="en-US" sz="1800">
                <a:solidFill>
                  <a:schemeClr val="dk1"/>
                </a:solidFill>
                <a:latin typeface="Calibri"/>
                <a:ea typeface="Calibri"/>
                <a:cs typeface="Calibri"/>
                <a:sym typeface="Calibri"/>
              </a:rPr>
              <a:t> in the subclass.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 </a:t>
            </a:r>
            <a:r>
              <a:rPr b="1" lang="en-US" sz="1800">
                <a:solidFill>
                  <a:schemeClr val="dk1"/>
                </a:solidFill>
                <a:latin typeface="Calibri"/>
                <a:ea typeface="Calibri"/>
                <a:cs typeface="Calibri"/>
                <a:sym typeface="Calibri"/>
              </a:rPr>
              <a:t>method signature must match</a:t>
            </a:r>
            <a:r>
              <a:rPr lang="en-US" sz="1800">
                <a:solidFill>
                  <a:schemeClr val="dk1"/>
                </a:solidFill>
                <a:latin typeface="Calibri"/>
                <a:ea typeface="Calibri"/>
                <a:cs typeface="Calibri"/>
                <a:sym typeface="Calibri"/>
              </a:rPr>
              <a:t> the overridden method.</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 call must be done via </a:t>
            </a:r>
            <a:r>
              <a:rPr b="1" lang="en-US" sz="1800">
                <a:solidFill>
                  <a:schemeClr val="dk1"/>
                </a:solidFill>
                <a:latin typeface="Calibri"/>
                <a:ea typeface="Calibri"/>
                <a:cs typeface="Calibri"/>
                <a:sym typeface="Calibri"/>
              </a:rPr>
              <a:t>a superclass reference</a:t>
            </a:r>
            <a:r>
              <a:rPr lang="en-US" sz="18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Static, final, and private methods cannot be overridden</a:t>
            </a:r>
            <a:r>
              <a:rPr lang="en-US" sz="1800">
                <a:solidFill>
                  <a:schemeClr val="dk1"/>
                </a:solidFill>
                <a:latin typeface="Calibri"/>
                <a:ea typeface="Calibri"/>
                <a:cs typeface="Calibri"/>
                <a:sym typeface="Calibri"/>
              </a:rPr>
              <a:t>.</a:t>
            </a:r>
            <a:endParaRPr/>
          </a:p>
        </p:txBody>
      </p:sp>
      <p:sp>
        <p:nvSpPr>
          <p:cNvPr id="101" name="Google Shape;101;p3"/>
          <p:cNvSpPr txBox="1"/>
          <p:nvPr/>
        </p:nvSpPr>
        <p:spPr>
          <a:xfrm>
            <a:off x="5667890" y="4810672"/>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Rules for Dynamic Method Dispatch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p:nvPr/>
        </p:nvSpPr>
        <p:spPr>
          <a:xfrm>
            <a:off x="177281" y="190621"/>
            <a:ext cx="6660798" cy="34163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Built-in Packages in Java</a:t>
            </a:r>
            <a:endParaRPr/>
          </a:p>
          <a:p>
            <a:pPr indent="0" lvl="0" marL="0" marR="0" rtl="0" algn="l">
              <a:lnSpc>
                <a:spcPct val="100000"/>
              </a:lnSpc>
              <a:spcBef>
                <a:spcPts val="0"/>
              </a:spcBef>
              <a:spcAft>
                <a:spcPts val="0"/>
              </a:spcAft>
              <a:buClr>
                <a:schemeClr val="dk1"/>
              </a:buClr>
              <a:buSzPts val="2400"/>
              <a:buFont typeface="Calibri"/>
              <a:buNone/>
            </a:pPr>
            <a:r>
              <a:t/>
            </a:r>
            <a:endParaRPr b="1" i="0" sz="2400" u="none" cap="none" strike="noStrike">
              <a:solidFill>
                <a:schemeClr val="dk1"/>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Java provides many built-in packages such as:</a:t>
            </a:r>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None/>
            </a:pPr>
            <a:r>
              <a:rPr b="0" i="0" lang="en-US" sz="2400" u="none" cap="none" strike="noStrike">
                <a:solidFill>
                  <a:schemeClr val="dk1"/>
                </a:solidFill>
                <a:latin typeface="Arimo"/>
                <a:ea typeface="Arimo"/>
                <a:cs typeface="Arimo"/>
                <a:sym typeface="Arimo"/>
              </a:rPr>
              <a:t>java.util</a:t>
            </a:r>
            <a:r>
              <a:rPr b="0" i="0" lang="en-US" sz="2400" u="none" cap="none" strike="noStrike">
                <a:solidFill>
                  <a:schemeClr val="dk1"/>
                </a:solidFill>
                <a:latin typeface="Calibri"/>
                <a:ea typeface="Calibri"/>
                <a:cs typeface="Calibri"/>
                <a:sym typeface="Calibri"/>
              </a:rPr>
              <a:t> → Collections, Date &amp; Time</a:t>
            </a:r>
            <a:endParaRPr b="0" i="0" sz="24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None/>
            </a:pPr>
            <a:r>
              <a:rPr b="0" i="0" lang="en-US" sz="2400" u="none" cap="none" strike="noStrike">
                <a:solidFill>
                  <a:schemeClr val="dk1"/>
                </a:solidFill>
                <a:latin typeface="Arimo"/>
                <a:ea typeface="Arimo"/>
                <a:cs typeface="Arimo"/>
                <a:sym typeface="Arimo"/>
              </a:rPr>
              <a:t>java.io</a:t>
            </a:r>
            <a:r>
              <a:rPr b="0" i="0" lang="en-US" sz="2400" u="none" cap="none" strike="noStrike">
                <a:solidFill>
                  <a:schemeClr val="dk1"/>
                </a:solidFill>
                <a:latin typeface="Calibri"/>
                <a:ea typeface="Calibri"/>
                <a:cs typeface="Calibri"/>
                <a:sym typeface="Calibri"/>
              </a:rPr>
              <a:t> → File handling</a:t>
            </a:r>
            <a:endParaRPr b="0" i="0" sz="24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None/>
            </a:pPr>
            <a:r>
              <a:rPr b="0" i="0" lang="en-US" sz="2400" u="none" cap="none" strike="noStrike">
                <a:solidFill>
                  <a:schemeClr val="dk1"/>
                </a:solidFill>
                <a:latin typeface="Arimo"/>
                <a:ea typeface="Arimo"/>
                <a:cs typeface="Arimo"/>
                <a:sym typeface="Arimo"/>
              </a:rPr>
              <a:t>java.net</a:t>
            </a:r>
            <a:r>
              <a:rPr b="0" i="0" lang="en-US" sz="2400" u="none" cap="none" strike="noStrike">
                <a:solidFill>
                  <a:schemeClr val="dk1"/>
                </a:solidFill>
                <a:latin typeface="Calibri"/>
                <a:ea typeface="Calibri"/>
                <a:cs typeface="Calibri"/>
                <a:sym typeface="Calibri"/>
              </a:rPr>
              <a:t> → Networking</a:t>
            </a:r>
            <a:endParaRPr b="0" i="0" sz="24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None/>
            </a:pPr>
            <a:r>
              <a:rPr b="0" i="0" lang="en-US" sz="2400" u="none" cap="none" strike="noStrike">
                <a:solidFill>
                  <a:schemeClr val="dk1"/>
                </a:solidFill>
                <a:latin typeface="Arimo"/>
                <a:ea typeface="Arimo"/>
                <a:cs typeface="Arimo"/>
                <a:sym typeface="Arimo"/>
              </a:rPr>
              <a:t>java.sql</a:t>
            </a:r>
            <a:r>
              <a:rPr b="0" i="0" lang="en-US" sz="2400" u="none" cap="none" strike="noStrike">
                <a:solidFill>
                  <a:schemeClr val="dk1"/>
                </a:solidFill>
                <a:latin typeface="Calibri"/>
                <a:ea typeface="Calibri"/>
                <a:cs typeface="Calibri"/>
                <a:sym typeface="Calibri"/>
              </a:rPr>
              <a:t> → Database handling</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chemeClr val="dk1"/>
              </a:solidFill>
              <a:latin typeface="Arial"/>
              <a:ea typeface="Arial"/>
              <a:cs typeface="Arial"/>
              <a:sym typeface="Arial"/>
            </a:endParaRPr>
          </a:p>
        </p:txBody>
      </p:sp>
      <p:pic>
        <p:nvPicPr>
          <p:cNvPr id="107" name="Google Shape;107;p4"/>
          <p:cNvPicPr preferRelativeResize="0"/>
          <p:nvPr/>
        </p:nvPicPr>
        <p:blipFill rotWithShape="1">
          <a:blip r:embed="rId3">
            <a:alphaModFix/>
          </a:blip>
          <a:srcRect b="0" l="0" r="0" t="0"/>
          <a:stretch/>
        </p:blipFill>
        <p:spPr>
          <a:xfrm>
            <a:off x="630167" y="4485254"/>
            <a:ext cx="8897592" cy="2086266"/>
          </a:xfrm>
          <a:prstGeom prst="rect">
            <a:avLst/>
          </a:prstGeom>
          <a:noFill/>
          <a:ln>
            <a:noFill/>
          </a:ln>
        </p:spPr>
      </p:pic>
      <p:sp>
        <p:nvSpPr>
          <p:cNvPr id="108" name="Google Shape;108;p4"/>
          <p:cNvSpPr txBox="1"/>
          <p:nvPr/>
        </p:nvSpPr>
        <p:spPr>
          <a:xfrm>
            <a:off x="630167" y="3944130"/>
            <a:ext cx="609755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Java Access Modifiers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idx="1" type="body"/>
          </p:nvPr>
        </p:nvSpPr>
        <p:spPr>
          <a:xfrm>
            <a:off x="278363" y="248751"/>
            <a:ext cx="10515600" cy="212122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Introduction to Arrays</a:t>
            </a:r>
            <a:endParaRPr/>
          </a:p>
          <a:p>
            <a:pPr indent="-228600" lvl="0" marL="228600" rtl="0" algn="l">
              <a:lnSpc>
                <a:spcPct val="90000"/>
              </a:lnSpc>
              <a:spcBef>
                <a:spcPts val="1000"/>
              </a:spcBef>
              <a:spcAft>
                <a:spcPts val="0"/>
              </a:spcAft>
              <a:buClr>
                <a:schemeClr val="dk1"/>
              </a:buClr>
              <a:buSzPts val="2800"/>
              <a:buFont typeface="Arial"/>
              <a:buChar char="•"/>
            </a:pPr>
            <a:r>
              <a:rPr lang="en-US"/>
              <a:t>An </a:t>
            </a:r>
            <a:r>
              <a:rPr b="1" lang="en-US"/>
              <a:t>array</a:t>
            </a:r>
            <a:r>
              <a:rPr lang="en-US"/>
              <a:t> is a fixed-size, indexed collection of elements of the same data type.</a:t>
            </a:r>
            <a:endParaRPr/>
          </a:p>
          <a:p>
            <a:pPr indent="-228600" lvl="0" marL="228600" rtl="0" algn="l">
              <a:lnSpc>
                <a:spcPct val="90000"/>
              </a:lnSpc>
              <a:spcBef>
                <a:spcPts val="1000"/>
              </a:spcBef>
              <a:spcAft>
                <a:spcPts val="0"/>
              </a:spcAft>
              <a:buClr>
                <a:schemeClr val="dk1"/>
              </a:buClr>
              <a:buSzPts val="2800"/>
              <a:buFont typeface="Arial"/>
              <a:buChar char="•"/>
            </a:pPr>
            <a:r>
              <a:rPr lang="en-US"/>
              <a:t>Arrays store </a:t>
            </a:r>
            <a:r>
              <a:rPr b="1" lang="en-US"/>
              <a:t>primitive data types</a:t>
            </a:r>
            <a:r>
              <a:rPr lang="en-US"/>
              <a:t> (int, char, etc.) or </a:t>
            </a:r>
            <a:r>
              <a:rPr b="1" lang="en-US"/>
              <a:t>objects</a:t>
            </a:r>
            <a:r>
              <a:rPr lang="en-US"/>
              <a:t>.</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4" name="Google Shape;114;p5"/>
          <p:cNvPicPr preferRelativeResize="0"/>
          <p:nvPr/>
        </p:nvPicPr>
        <p:blipFill rotWithShape="1">
          <a:blip r:embed="rId3">
            <a:alphaModFix/>
          </a:blip>
          <a:srcRect b="0" l="0" r="0" t="0"/>
          <a:stretch/>
        </p:blipFill>
        <p:spPr>
          <a:xfrm>
            <a:off x="196581" y="2105494"/>
            <a:ext cx="5121868" cy="47137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idx="1" type="body"/>
          </p:nvPr>
        </p:nvSpPr>
        <p:spPr>
          <a:xfrm>
            <a:off x="110412" y="69530"/>
            <a:ext cx="8440067" cy="286232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Introduction to ArrayList</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Calibri"/>
              <a:buNone/>
            </a:pPr>
            <a:r>
              <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ArrayList</a:t>
            </a:r>
            <a:r>
              <a:rPr b="0" i="0" lang="en-US" sz="2000" u="none" cap="none" strike="noStrike">
                <a:solidFill>
                  <a:schemeClr val="dk1"/>
                </a:solidFill>
                <a:latin typeface="Arial"/>
                <a:ea typeface="Arial"/>
                <a:cs typeface="Arial"/>
                <a:sym typeface="Arial"/>
              </a:rPr>
              <a:t> is a resizable </a:t>
            </a:r>
            <a:r>
              <a:rPr b="1" i="0" lang="en-US" sz="2000" u="none" cap="none" strike="noStrike">
                <a:solidFill>
                  <a:schemeClr val="dk1"/>
                </a:solidFill>
                <a:latin typeface="Arial"/>
                <a:ea typeface="Arial"/>
                <a:cs typeface="Arial"/>
                <a:sym typeface="Arial"/>
              </a:rPr>
              <a:t>dynamic array</a:t>
            </a:r>
            <a:r>
              <a:rPr b="0" i="0" lang="en-US" sz="2000" u="none" cap="none" strike="noStrike">
                <a:solidFill>
                  <a:schemeClr val="dk1"/>
                </a:solidFill>
                <a:latin typeface="Arial"/>
                <a:ea typeface="Arial"/>
                <a:cs typeface="Arial"/>
                <a:sym typeface="Arial"/>
              </a:rPr>
              <a:t> in Java (part of </a:t>
            </a:r>
            <a:r>
              <a:rPr b="0" i="0" lang="en-US" sz="2000" u="none" cap="none" strike="noStrike">
                <a:solidFill>
                  <a:schemeClr val="dk1"/>
                </a:solidFill>
                <a:latin typeface="Arimo"/>
                <a:ea typeface="Arimo"/>
                <a:cs typeface="Arimo"/>
                <a:sym typeface="Arimo"/>
              </a:rPr>
              <a:t>java.util</a:t>
            </a:r>
            <a:r>
              <a:rPr b="0" i="0" lang="en-US" sz="2000" u="none" cap="none" strike="noStrike">
                <a:solidFill>
                  <a:schemeClr val="dk1"/>
                </a:solidFill>
              </a:rPr>
              <a:t> package).</a:t>
            </a:r>
            <a:endParaRPr/>
          </a:p>
          <a:p>
            <a:pPr indent="0" lvl="0" marL="0" marR="0" rtl="0" algn="l">
              <a:lnSpc>
                <a:spcPct val="100000"/>
              </a:lnSpc>
              <a:spcBef>
                <a:spcPts val="0"/>
              </a:spcBef>
              <a:spcAft>
                <a:spcPts val="0"/>
              </a:spcAft>
              <a:buClr>
                <a:schemeClr val="dk1"/>
              </a:buClr>
              <a:buSzPts val="2000"/>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None/>
            </a:pPr>
            <a:r>
              <a:rPr b="1" i="0" lang="en-US" sz="2000" u="none" cap="none" strike="noStrike">
                <a:solidFill>
                  <a:schemeClr val="dk1"/>
                </a:solidFill>
                <a:latin typeface="Arial"/>
                <a:ea typeface="Arial"/>
                <a:cs typeface="Arial"/>
                <a:sym typeface="Arial"/>
              </a:rPr>
              <a:t>Advantages over arrays:</a:t>
            </a:r>
            <a:endParaRPr/>
          </a:p>
          <a:p>
            <a:pPr indent="0" lvl="0" marL="0" marR="0" rtl="0" algn="l">
              <a:lnSpc>
                <a:spcPct val="100000"/>
              </a:lnSpc>
              <a:spcBef>
                <a:spcPts val="0"/>
              </a:spcBef>
              <a:spcAft>
                <a:spcPts val="0"/>
              </a:spcAft>
              <a:buClr>
                <a:schemeClr val="dk1"/>
              </a:buClr>
              <a:buSzPts val="2000"/>
              <a:buNone/>
            </a:pPr>
            <a:br>
              <a:rPr b="0" i="0" lang="en-US" sz="20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Dynamic size</a:t>
            </a:r>
            <a:r>
              <a:rPr b="0" i="0" lang="en-US" sz="2000" u="none" cap="none" strike="noStrike">
                <a:solidFill>
                  <a:schemeClr val="dk1"/>
                </a:solidFill>
                <a:latin typeface="Arial"/>
                <a:ea typeface="Arial"/>
                <a:cs typeface="Arial"/>
                <a:sym typeface="Arial"/>
              </a:rPr>
              <a:t> (no fixed length)</a:t>
            </a:r>
            <a:br>
              <a:rPr b="0" i="0" lang="en-US" sz="2000" u="none" cap="none" strike="noStrike">
                <a:solidFill>
                  <a:schemeClr val="dk1"/>
                </a:solidFill>
                <a:latin typeface="Arial"/>
                <a:ea typeface="Arial"/>
                <a:cs typeface="Arial"/>
                <a:sym typeface="Arial"/>
              </a:rPr>
            </a:br>
            <a:r>
              <a:rPr b="1" i="0" lang="en-US" sz="2000" u="none" cap="none" strike="noStrike">
                <a:solidFill>
                  <a:schemeClr val="dk1"/>
                </a:solidFill>
                <a:latin typeface="Arial"/>
                <a:ea typeface="Arial"/>
                <a:cs typeface="Arial"/>
                <a:sym typeface="Arial"/>
              </a:rPr>
              <a:t>Built-in methods</a:t>
            </a:r>
            <a:r>
              <a:rPr b="0" i="0" lang="en-US" sz="2000" u="none" cap="none" strike="noStrike">
                <a:solidFill>
                  <a:schemeClr val="dk1"/>
                </a:solidFill>
                <a:latin typeface="Arial"/>
                <a:ea typeface="Arial"/>
                <a:cs typeface="Arial"/>
                <a:sym typeface="Arial"/>
              </a:rPr>
              <a:t> (add, remove, contains, etc.)</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p:txBody>
      </p:sp>
      <p:pic>
        <p:nvPicPr>
          <p:cNvPr id="120" name="Google Shape;120;p6"/>
          <p:cNvPicPr preferRelativeResize="0"/>
          <p:nvPr/>
        </p:nvPicPr>
        <p:blipFill rotWithShape="1">
          <a:blip r:embed="rId3">
            <a:alphaModFix/>
          </a:blip>
          <a:srcRect b="0" l="0" r="0" t="0"/>
          <a:stretch/>
        </p:blipFill>
        <p:spPr>
          <a:xfrm>
            <a:off x="429780" y="2987707"/>
            <a:ext cx="6938279" cy="15096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7"/>
          <p:cNvPicPr preferRelativeResize="0"/>
          <p:nvPr/>
        </p:nvPicPr>
        <p:blipFill rotWithShape="1">
          <a:blip r:embed="rId3">
            <a:alphaModFix/>
          </a:blip>
          <a:srcRect b="0" l="0" r="0" t="0"/>
          <a:stretch/>
        </p:blipFill>
        <p:spPr>
          <a:xfrm>
            <a:off x="335108" y="141826"/>
            <a:ext cx="9070149" cy="66434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idx="1" type="body"/>
          </p:nvPr>
        </p:nvSpPr>
        <p:spPr>
          <a:xfrm>
            <a:off x="101082" y="339984"/>
            <a:ext cx="4610877" cy="224676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Introduction to Vector</a:t>
            </a:r>
            <a:endParaRPr/>
          </a:p>
          <a:p>
            <a:pPr indent="0" lvl="0" marL="0" marR="0" rtl="0" algn="l">
              <a:lnSpc>
                <a:spcPct val="100000"/>
              </a:lnSpc>
              <a:spcBef>
                <a:spcPts val="0"/>
              </a:spcBef>
              <a:spcAft>
                <a:spcPts val="0"/>
              </a:spcAft>
              <a:buClr>
                <a:schemeClr val="dk1"/>
              </a:buClr>
              <a:buSzPts val="2000"/>
              <a:buFont typeface="Calibri"/>
              <a:buNone/>
            </a:pPr>
            <a:r>
              <a:t/>
            </a:r>
            <a:endParaRPr b="1"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Vector</a:t>
            </a:r>
            <a:r>
              <a:rPr b="0" i="0" lang="en-US" sz="2000" u="none" cap="none" strike="noStrike">
                <a:solidFill>
                  <a:schemeClr val="dk1"/>
                </a:solidFill>
                <a:latin typeface="Arial"/>
                <a:ea typeface="Arial"/>
                <a:cs typeface="Arial"/>
                <a:sym typeface="Arial"/>
              </a:rPr>
              <a:t> is similar to </a:t>
            </a:r>
            <a:r>
              <a:rPr b="0" i="0" lang="en-US" sz="2000" u="none" cap="none" strike="noStrike">
                <a:solidFill>
                  <a:schemeClr val="dk1"/>
                </a:solidFill>
                <a:latin typeface="Arimo"/>
                <a:ea typeface="Arimo"/>
                <a:cs typeface="Arimo"/>
                <a:sym typeface="Arimo"/>
              </a:rPr>
              <a:t>ArrayList</a:t>
            </a:r>
            <a:r>
              <a:rPr b="0" i="0" lang="en-US" sz="2000" u="none" cap="none" strike="noStrike">
                <a:solidFill>
                  <a:schemeClr val="dk1"/>
                </a:solidFill>
              </a:rPr>
              <a:t> but </a:t>
            </a:r>
            <a:r>
              <a:rPr b="1" i="0" lang="en-US" sz="2000" u="none" cap="none" strike="noStrike">
                <a:solidFill>
                  <a:schemeClr val="dk1"/>
                </a:solidFill>
                <a:latin typeface="Arial"/>
                <a:ea typeface="Arial"/>
                <a:cs typeface="Arial"/>
                <a:sym typeface="Arial"/>
              </a:rPr>
              <a:t>synchronized</a:t>
            </a:r>
            <a:r>
              <a:rPr b="0" i="0" lang="en-US" sz="2000" u="none" cap="none" strike="noStrike">
                <a:solidFill>
                  <a:schemeClr val="dk1"/>
                </a:solidFill>
                <a:latin typeface="Arial"/>
                <a:ea typeface="Arial"/>
                <a:cs typeface="Arial"/>
                <a:sym typeface="Arial"/>
              </a:rPr>
              <a:t> (thread-safe).</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Slower than ArrayList</a:t>
            </a:r>
            <a:r>
              <a:rPr b="0" i="0" lang="en-US" sz="2000" u="none" cap="none" strike="noStrike">
                <a:solidFill>
                  <a:schemeClr val="dk1"/>
                </a:solidFill>
                <a:latin typeface="Arial"/>
                <a:ea typeface="Arial"/>
                <a:cs typeface="Arial"/>
                <a:sym typeface="Arial"/>
              </a:rPr>
              <a:t> due to synchronization overhead.</a:t>
            </a:r>
            <a:endParaRPr/>
          </a:p>
        </p:txBody>
      </p:sp>
      <p:pic>
        <p:nvPicPr>
          <p:cNvPr id="131" name="Google Shape;131;p8"/>
          <p:cNvPicPr preferRelativeResize="0"/>
          <p:nvPr/>
        </p:nvPicPr>
        <p:blipFill rotWithShape="1">
          <a:blip r:embed="rId3">
            <a:alphaModFix/>
          </a:blip>
          <a:srcRect b="0" l="0" r="0" t="0"/>
          <a:stretch/>
        </p:blipFill>
        <p:spPr>
          <a:xfrm>
            <a:off x="0" y="3429001"/>
            <a:ext cx="5150498" cy="1037254"/>
          </a:xfrm>
          <a:prstGeom prst="rect">
            <a:avLst/>
          </a:prstGeom>
          <a:noFill/>
          <a:ln>
            <a:noFill/>
          </a:ln>
        </p:spPr>
      </p:pic>
      <p:pic>
        <p:nvPicPr>
          <p:cNvPr id="132" name="Google Shape;132;p8"/>
          <p:cNvPicPr preferRelativeResize="0"/>
          <p:nvPr/>
        </p:nvPicPr>
        <p:blipFill rotWithShape="1">
          <a:blip r:embed="rId4">
            <a:alphaModFix/>
          </a:blip>
          <a:srcRect b="0" l="0" r="0" t="0"/>
          <a:stretch/>
        </p:blipFill>
        <p:spPr>
          <a:xfrm>
            <a:off x="5122129" y="339984"/>
            <a:ext cx="7044989" cy="52936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b="0" l="0" r="0" t="0"/>
          <a:stretch/>
        </p:blipFill>
        <p:spPr>
          <a:xfrm>
            <a:off x="315270" y="407776"/>
            <a:ext cx="11561459" cy="269931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nvSpPr>
        <p:spPr>
          <a:xfrm>
            <a:off x="361562" y="236385"/>
            <a:ext cx="6113884"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What is Garbage Collection?</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Automatic memory management</a:t>
            </a:r>
            <a:r>
              <a:rPr lang="en-US" sz="2000">
                <a:solidFill>
                  <a:schemeClr val="dk1"/>
                </a:solidFill>
                <a:latin typeface="Calibri"/>
                <a:ea typeface="Calibri"/>
                <a:cs typeface="Calibri"/>
                <a:sym typeface="Calibri"/>
              </a:rPr>
              <a:t> in Java.</a:t>
            </a:r>
            <a:endParaRPr/>
          </a:p>
          <a:p>
            <a:pPr indent="-127000" lvl="0" marL="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Java’s </a:t>
            </a:r>
            <a:r>
              <a:rPr b="1" lang="en-US" sz="2000">
                <a:solidFill>
                  <a:schemeClr val="dk1"/>
                </a:solidFill>
                <a:latin typeface="Calibri"/>
                <a:ea typeface="Calibri"/>
                <a:cs typeface="Calibri"/>
                <a:sym typeface="Calibri"/>
              </a:rPr>
              <a:t>Garbage Collector (GC)</a:t>
            </a:r>
            <a:r>
              <a:rPr lang="en-US" sz="2000">
                <a:solidFill>
                  <a:schemeClr val="dk1"/>
                </a:solidFill>
                <a:latin typeface="Calibri"/>
                <a:ea typeface="Calibri"/>
                <a:cs typeface="Calibri"/>
                <a:sym typeface="Calibri"/>
              </a:rPr>
              <a:t> removes unused objects from memory.</a:t>
            </a:r>
            <a:endParaRPr/>
          </a:p>
          <a:p>
            <a:pPr indent="-127000" lvl="0" marL="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Prevents memory leaks</a:t>
            </a:r>
            <a:r>
              <a:rPr lang="en-US" sz="2000">
                <a:solidFill>
                  <a:schemeClr val="dk1"/>
                </a:solidFill>
                <a:latin typeface="Calibri"/>
                <a:ea typeface="Calibri"/>
                <a:cs typeface="Calibri"/>
                <a:sym typeface="Calibri"/>
              </a:rPr>
              <a:t> and improves performance.</a:t>
            </a:r>
            <a:endParaRPr/>
          </a:p>
        </p:txBody>
      </p:sp>
      <p:sp>
        <p:nvSpPr>
          <p:cNvPr id="143" name="Google Shape;143;p10"/>
          <p:cNvSpPr txBox="1"/>
          <p:nvPr/>
        </p:nvSpPr>
        <p:spPr>
          <a:xfrm>
            <a:off x="520183" y="2729253"/>
            <a:ext cx="7504144"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How Garbage Collection Works?</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Objects are eligible for garbage collection when:</a:t>
            </a:r>
            <a:endParaRPr/>
          </a:p>
          <a:p>
            <a:pPr indent="0" lvl="0" marL="0" marR="0" rtl="0" algn="l">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They are no longer reachable.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No active references exist.</a:t>
            </a:r>
            <a:endParaRPr/>
          </a:p>
        </p:txBody>
      </p:sp>
      <p:pic>
        <p:nvPicPr>
          <p:cNvPr id="144" name="Google Shape;144;p10"/>
          <p:cNvPicPr preferRelativeResize="0"/>
          <p:nvPr/>
        </p:nvPicPr>
        <p:blipFill rotWithShape="1">
          <a:blip r:embed="rId3">
            <a:alphaModFix/>
          </a:blip>
          <a:srcRect b="0" l="0" r="0" t="0"/>
          <a:stretch/>
        </p:blipFill>
        <p:spPr>
          <a:xfrm>
            <a:off x="6398469" y="1431452"/>
            <a:ext cx="5600700" cy="2492868"/>
          </a:xfrm>
          <a:prstGeom prst="rect">
            <a:avLst/>
          </a:prstGeom>
          <a:noFill/>
          <a:ln>
            <a:noFill/>
          </a:ln>
        </p:spPr>
      </p:pic>
      <p:pic>
        <p:nvPicPr>
          <p:cNvPr id="145" name="Google Shape;145;p10"/>
          <p:cNvPicPr preferRelativeResize="0"/>
          <p:nvPr/>
        </p:nvPicPr>
        <p:blipFill rotWithShape="1">
          <a:blip r:embed="rId4">
            <a:alphaModFix/>
          </a:blip>
          <a:srcRect b="0" l="0" r="0" t="0"/>
          <a:stretch/>
        </p:blipFill>
        <p:spPr>
          <a:xfrm>
            <a:off x="361562" y="4534946"/>
            <a:ext cx="9538218" cy="22042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354e0099f5_1_22"/>
          <p:cNvSpPr txBox="1"/>
          <p:nvPr>
            <p:ph idx="1" type="body"/>
          </p:nvPr>
        </p:nvSpPr>
        <p:spPr>
          <a:xfrm>
            <a:off x="838200" y="416525"/>
            <a:ext cx="10515600" cy="576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1250"/>
              <a:t>Serial GC</a:t>
            </a:r>
            <a:endParaRPr b="1" sz="1250"/>
          </a:p>
          <a:p>
            <a:pPr indent="0" lvl="0" marL="0" rtl="0" algn="l">
              <a:spcBef>
                <a:spcPts val="1000"/>
              </a:spcBef>
              <a:spcAft>
                <a:spcPts val="0"/>
              </a:spcAft>
              <a:buNone/>
            </a:pPr>
            <a:r>
              <a:rPr lang="en-US" sz="1250"/>
              <a:t>The Serial Garbage Collector (Serial GC) in Java is one of the simplest and oldest garbage collection algorithms provided by the JVM. It is designed to work well for applications that have small heaps and run on single-threaded environments.</a:t>
            </a:r>
            <a:endParaRPr sz="1250"/>
          </a:p>
          <a:p>
            <a:pPr indent="0" lvl="0" marL="0" rtl="0" algn="l">
              <a:lnSpc>
                <a:spcPct val="115000"/>
              </a:lnSpc>
              <a:spcBef>
                <a:spcPts val="1400"/>
              </a:spcBef>
              <a:spcAft>
                <a:spcPts val="0"/>
              </a:spcAft>
              <a:buClr>
                <a:schemeClr val="dk1"/>
              </a:buClr>
              <a:buSzPts val="1100"/>
              <a:buFont typeface="Arial"/>
              <a:buNone/>
            </a:pPr>
            <a:r>
              <a:rPr lang="en-US" sz="1250"/>
              <a:t>Key Characteristics of Serial GC:</a:t>
            </a:r>
            <a:endParaRPr sz="1250"/>
          </a:p>
          <a:p>
            <a:pPr indent="-307975" lvl="0" marL="457200" rtl="0" algn="l">
              <a:lnSpc>
                <a:spcPct val="115000"/>
              </a:lnSpc>
              <a:spcBef>
                <a:spcPts val="1200"/>
              </a:spcBef>
              <a:spcAft>
                <a:spcPts val="0"/>
              </a:spcAft>
              <a:buSzPts val="1250"/>
              <a:buFont typeface="Calibri"/>
              <a:buAutoNum type="arabicPeriod"/>
            </a:pPr>
            <a:r>
              <a:rPr lang="en-US" sz="1250"/>
              <a:t>Single-Threaded:</a:t>
            </a:r>
            <a:endParaRPr sz="1250"/>
          </a:p>
          <a:p>
            <a:pPr indent="-307975" lvl="1" marL="914400" rtl="0" algn="l">
              <a:lnSpc>
                <a:spcPct val="115000"/>
              </a:lnSpc>
              <a:spcBef>
                <a:spcPts val="0"/>
              </a:spcBef>
              <a:spcAft>
                <a:spcPts val="0"/>
              </a:spcAft>
              <a:buSzPts val="1250"/>
              <a:buFont typeface="Calibri"/>
              <a:buChar char="○"/>
            </a:pPr>
            <a:r>
              <a:rPr lang="en-US" sz="1250"/>
              <a:t>The Serial GC uses only one thread to perform garbage collection, which means it does everything serially (one step after the other).</a:t>
            </a:r>
            <a:endParaRPr sz="1250"/>
          </a:p>
          <a:p>
            <a:pPr indent="-307975" lvl="1" marL="914400" rtl="0" algn="l">
              <a:lnSpc>
                <a:spcPct val="115000"/>
              </a:lnSpc>
              <a:spcBef>
                <a:spcPts val="0"/>
              </a:spcBef>
              <a:spcAft>
                <a:spcPts val="0"/>
              </a:spcAft>
              <a:buSzPts val="1250"/>
              <a:buFont typeface="Calibri"/>
              <a:buChar char="○"/>
            </a:pPr>
            <a:r>
              <a:rPr lang="en-US" sz="1250"/>
              <a:t>Both the young generation and old generation are collected using a single thread. This can make the process of garbage collection slower, but it is simple and does not require complex management.</a:t>
            </a:r>
            <a:endParaRPr sz="1250"/>
          </a:p>
          <a:p>
            <a:pPr indent="-307975" lvl="0" marL="457200" rtl="0" algn="l">
              <a:lnSpc>
                <a:spcPct val="115000"/>
              </a:lnSpc>
              <a:spcBef>
                <a:spcPts val="0"/>
              </a:spcBef>
              <a:spcAft>
                <a:spcPts val="0"/>
              </a:spcAft>
              <a:buSzPts val="1250"/>
              <a:buFont typeface="Calibri"/>
              <a:buAutoNum type="arabicPeriod"/>
            </a:pPr>
            <a:r>
              <a:rPr lang="en-US" sz="1250"/>
              <a:t>Stop-the-World Event:</a:t>
            </a:r>
            <a:endParaRPr sz="1250"/>
          </a:p>
          <a:p>
            <a:pPr indent="-307975" lvl="1" marL="914400" rtl="0" algn="l">
              <a:lnSpc>
                <a:spcPct val="115000"/>
              </a:lnSpc>
              <a:spcBef>
                <a:spcPts val="0"/>
              </a:spcBef>
              <a:spcAft>
                <a:spcPts val="0"/>
              </a:spcAft>
              <a:buSzPts val="1250"/>
              <a:buFont typeface="Calibri"/>
              <a:buChar char="○"/>
            </a:pPr>
            <a:r>
              <a:rPr lang="en-US" sz="1250"/>
              <a:t>Like other collectors, Serial GC involves a Stop-the-World event, meaning that the application pauses while the garbage collection happens. Since the garbage collection is done serially, the pause can be significant if the heap is large.</a:t>
            </a:r>
            <a:endParaRPr sz="1250"/>
          </a:p>
          <a:p>
            <a:pPr indent="-307975" lvl="1" marL="914400" rtl="0" algn="l">
              <a:lnSpc>
                <a:spcPct val="115000"/>
              </a:lnSpc>
              <a:spcBef>
                <a:spcPts val="0"/>
              </a:spcBef>
              <a:spcAft>
                <a:spcPts val="0"/>
              </a:spcAft>
              <a:buSzPts val="1250"/>
              <a:buFont typeface="Calibri"/>
              <a:buChar char="○"/>
            </a:pPr>
            <a:r>
              <a:rPr lang="en-US" sz="1250"/>
              <a:t>However, for small heaps (e.g., in single-threaded applications or with limited memory), the stop-the-world pauses might not be as noticeable.</a:t>
            </a:r>
            <a:endParaRPr sz="1250"/>
          </a:p>
          <a:p>
            <a:pPr indent="-307975" lvl="0" marL="457200" rtl="0" algn="l">
              <a:lnSpc>
                <a:spcPct val="115000"/>
              </a:lnSpc>
              <a:spcBef>
                <a:spcPts val="0"/>
              </a:spcBef>
              <a:spcAft>
                <a:spcPts val="0"/>
              </a:spcAft>
              <a:buSzPts val="1250"/>
              <a:buFont typeface="Calibri"/>
              <a:buAutoNum type="arabicPeriod"/>
            </a:pPr>
            <a:r>
              <a:rPr lang="en-US" sz="1250"/>
              <a:t>Heap Division:</a:t>
            </a:r>
            <a:endParaRPr sz="1250"/>
          </a:p>
          <a:p>
            <a:pPr indent="-307975" lvl="1" marL="914400" rtl="0" algn="l">
              <a:lnSpc>
                <a:spcPct val="115000"/>
              </a:lnSpc>
              <a:spcBef>
                <a:spcPts val="0"/>
              </a:spcBef>
              <a:spcAft>
                <a:spcPts val="0"/>
              </a:spcAft>
              <a:buSzPts val="1250"/>
              <a:buFont typeface="Calibri"/>
              <a:buChar char="○"/>
            </a:pPr>
            <a:r>
              <a:rPr lang="en-US" sz="1250"/>
              <a:t>The heap is still divided into the young generation and the old generation, and the collector will first perform young GC (i.e., collection of newly allocated objects) and then, when necessary, a full GC (i.e., collection of the entire heap, including the old generation).</a:t>
            </a:r>
            <a:endParaRPr sz="1250"/>
          </a:p>
          <a:p>
            <a:pPr indent="-307975" lvl="0" marL="457200" rtl="0" algn="l">
              <a:lnSpc>
                <a:spcPct val="115000"/>
              </a:lnSpc>
              <a:spcBef>
                <a:spcPts val="0"/>
              </a:spcBef>
              <a:spcAft>
                <a:spcPts val="0"/>
              </a:spcAft>
              <a:buSzPts val="1250"/>
              <a:buFont typeface="Calibri"/>
              <a:buAutoNum type="arabicPeriod"/>
            </a:pPr>
            <a:r>
              <a:rPr lang="en-US" sz="1250"/>
              <a:t>Simplest Garbage Collection:</a:t>
            </a:r>
            <a:endParaRPr sz="1250"/>
          </a:p>
          <a:p>
            <a:pPr indent="-307975" lvl="1" marL="914400" rtl="0" algn="l">
              <a:lnSpc>
                <a:spcPct val="115000"/>
              </a:lnSpc>
              <a:spcBef>
                <a:spcPts val="0"/>
              </a:spcBef>
              <a:spcAft>
                <a:spcPts val="0"/>
              </a:spcAft>
              <a:buSzPts val="1250"/>
              <a:buFont typeface="Calibri"/>
              <a:buChar char="○"/>
            </a:pPr>
            <a:r>
              <a:rPr lang="en-US" sz="1250"/>
              <a:t>Since it uses a single thread for all GC activities, Serial GC is simple and doesn’t involve complex multi-threading overhead, making it a good choice for applications with low memory requirements and low concurrency needs.</a:t>
            </a:r>
            <a:endParaRPr sz="1250"/>
          </a:p>
          <a:p>
            <a:pPr indent="-307975" lvl="0" marL="457200" rtl="0" algn="l">
              <a:lnSpc>
                <a:spcPct val="115000"/>
              </a:lnSpc>
              <a:spcBef>
                <a:spcPts val="0"/>
              </a:spcBef>
              <a:spcAft>
                <a:spcPts val="0"/>
              </a:spcAft>
              <a:buSzPts val="1250"/>
              <a:buFont typeface="Calibri"/>
              <a:buAutoNum type="arabicPeriod"/>
            </a:pPr>
            <a:r>
              <a:rPr lang="en-US" sz="1250"/>
              <a:t>Default for Small Heaps:</a:t>
            </a:r>
            <a:endParaRPr sz="1250"/>
          </a:p>
          <a:p>
            <a:pPr indent="-307975" lvl="1" marL="914400" rtl="0" algn="l">
              <a:lnSpc>
                <a:spcPct val="115000"/>
              </a:lnSpc>
              <a:spcBef>
                <a:spcPts val="0"/>
              </a:spcBef>
              <a:spcAft>
                <a:spcPts val="0"/>
              </a:spcAft>
              <a:buSzPts val="1250"/>
              <a:buFont typeface="Calibri"/>
              <a:buChar char="○"/>
            </a:pPr>
            <a:r>
              <a:rPr lang="en-US" sz="1250"/>
              <a:t>The Serial GC is often the default garbage collector for applications with small heaps, especially when running on machines with limited resources or when performance demands are low.</a:t>
            </a:r>
            <a:endParaRPr sz="1250"/>
          </a:p>
          <a:p>
            <a:pPr indent="0" lvl="0" marL="0" rtl="0" algn="l">
              <a:spcBef>
                <a:spcPts val="1200"/>
              </a:spcBef>
              <a:spcAft>
                <a:spcPts val="0"/>
              </a:spcAft>
              <a:buNone/>
            </a:pPr>
            <a:r>
              <a:t/>
            </a:r>
            <a:endParaRPr b="1" sz="125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354e0099f5_1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56" name="Google Shape;156;g3354e0099f5_1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just">
              <a:lnSpc>
                <a:spcPct val="115000"/>
              </a:lnSpc>
              <a:spcBef>
                <a:spcPts val="1400"/>
              </a:spcBef>
              <a:spcAft>
                <a:spcPts val="0"/>
              </a:spcAft>
              <a:buClr>
                <a:schemeClr val="dk1"/>
              </a:buClr>
              <a:buSzPts val="1100"/>
              <a:buFont typeface="Arial"/>
              <a:buNone/>
            </a:pPr>
            <a:r>
              <a:rPr b="1" lang="en-US" sz="2000"/>
              <a:t>Partial Garbage Collection (Partial GC):</a:t>
            </a:r>
            <a:endParaRPr b="1" sz="2000"/>
          </a:p>
          <a:p>
            <a:pPr indent="0" lvl="0" marL="0" rtl="0" algn="just">
              <a:lnSpc>
                <a:spcPct val="115000"/>
              </a:lnSpc>
              <a:spcBef>
                <a:spcPts val="1200"/>
              </a:spcBef>
              <a:spcAft>
                <a:spcPts val="0"/>
              </a:spcAft>
              <a:buClr>
                <a:schemeClr val="dk1"/>
              </a:buClr>
              <a:buSzPts val="1100"/>
              <a:buFont typeface="Arial"/>
              <a:buNone/>
            </a:pPr>
            <a:r>
              <a:rPr lang="en-US" sz="2000"/>
              <a:t>This term usually refers to a partial or incremental garbage collection that happens in certain types of garbage collection algorithms. In Java, garbage collection typically involves multiple stages, such as collecting the young generation (where newly created objects are allocated) and the old generation (where long-lived objects are moved after surviving multiple GC cycles).</a:t>
            </a:r>
            <a:endParaRPr sz="2000"/>
          </a:p>
          <a:p>
            <a:pPr indent="-355600" lvl="0" marL="457200" rtl="0" algn="just">
              <a:lnSpc>
                <a:spcPct val="115000"/>
              </a:lnSpc>
              <a:spcBef>
                <a:spcPts val="1200"/>
              </a:spcBef>
              <a:spcAft>
                <a:spcPts val="0"/>
              </a:spcAft>
              <a:buSzPts val="2000"/>
              <a:buChar char="●"/>
            </a:pPr>
            <a:r>
              <a:rPr lang="en-US" sz="2000"/>
              <a:t>Partial GC usually refers to collecting only certain parts of the heap rather than the whole heap.</a:t>
            </a:r>
            <a:endParaRPr sz="2000"/>
          </a:p>
          <a:p>
            <a:pPr indent="-355600" lvl="0" marL="457200" rtl="0" algn="just">
              <a:lnSpc>
                <a:spcPct val="115000"/>
              </a:lnSpc>
              <a:spcBef>
                <a:spcPts val="0"/>
              </a:spcBef>
              <a:spcAft>
                <a:spcPts val="0"/>
              </a:spcAft>
              <a:buSzPts val="2000"/>
              <a:buChar char="●"/>
            </a:pPr>
            <a:r>
              <a:rPr lang="en-US" sz="2000"/>
              <a:t>It might involve collecting only the young generation, which contains short-lived objects. This is faster because the young generation typically holds many more objects that are short-lived (e.g., local variables or temporary objects) than the old generation.</a:t>
            </a:r>
            <a:endParaRPr sz="2000"/>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354e0099f5_1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62" name="Google Shape;162;g3354e0099f5_1_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0" lvl="0" marL="0" rtl="0" algn="just">
              <a:lnSpc>
                <a:spcPct val="115000"/>
              </a:lnSpc>
              <a:spcBef>
                <a:spcPts val="1400"/>
              </a:spcBef>
              <a:spcAft>
                <a:spcPts val="0"/>
              </a:spcAft>
              <a:buClr>
                <a:schemeClr val="dk1"/>
              </a:buClr>
              <a:buSzPts val="1100"/>
              <a:buFont typeface="Arial"/>
              <a:buNone/>
            </a:pPr>
            <a:r>
              <a:rPr b="1" lang="en-US" sz="1500"/>
              <a:t>G1 Garbage Collector (G1 GC):</a:t>
            </a:r>
            <a:endParaRPr b="1" sz="1500"/>
          </a:p>
          <a:p>
            <a:pPr indent="0" lvl="0" marL="0" rtl="0" algn="just">
              <a:lnSpc>
                <a:spcPct val="115000"/>
              </a:lnSpc>
              <a:spcBef>
                <a:spcPts val="1200"/>
              </a:spcBef>
              <a:spcAft>
                <a:spcPts val="0"/>
              </a:spcAft>
              <a:buClr>
                <a:schemeClr val="dk1"/>
              </a:buClr>
              <a:buSzPts val="1100"/>
              <a:buFont typeface="Arial"/>
              <a:buNone/>
            </a:pPr>
            <a:r>
              <a:rPr lang="en-US" sz="1500"/>
              <a:t>The G1 GC (Garbage First Garbage Collector) was introduced in JDK 7 and is designed to optimize garbage collection in multi-threaded applications with large heaps. G1 GC is a low-pause, server-style garbage collector and is meant to replace older collectors like CMS (Concurrent Mark-Sweep) and Parallel GC.</a:t>
            </a:r>
            <a:endParaRPr sz="1500"/>
          </a:p>
          <a:p>
            <a:pPr indent="0" lvl="0" marL="0" rtl="0" algn="just">
              <a:lnSpc>
                <a:spcPct val="115000"/>
              </a:lnSpc>
              <a:spcBef>
                <a:spcPts val="1200"/>
              </a:spcBef>
              <a:spcAft>
                <a:spcPts val="0"/>
              </a:spcAft>
              <a:buClr>
                <a:schemeClr val="dk1"/>
              </a:buClr>
              <a:buSzPts val="1100"/>
              <a:buFont typeface="Arial"/>
              <a:buNone/>
            </a:pPr>
            <a:r>
              <a:rPr lang="en-US" sz="1500"/>
              <a:t>Key Features of G1 GC:</a:t>
            </a:r>
            <a:endParaRPr sz="1500"/>
          </a:p>
          <a:p>
            <a:pPr indent="-323850" lvl="0" marL="457200" rtl="0" algn="just">
              <a:lnSpc>
                <a:spcPct val="115000"/>
              </a:lnSpc>
              <a:spcBef>
                <a:spcPts val="1200"/>
              </a:spcBef>
              <a:spcAft>
                <a:spcPts val="0"/>
              </a:spcAft>
              <a:buSzPts val="1500"/>
              <a:buChar char="●"/>
            </a:pPr>
            <a:r>
              <a:rPr lang="en-US" sz="1500"/>
              <a:t>Region-based Heap: The heap is divided into regions (which can be of varying sizes) rather than being divided into just the young and old generations. This allows for better memory management and more flexible garbage collection.</a:t>
            </a:r>
            <a:endParaRPr sz="1500"/>
          </a:p>
          <a:p>
            <a:pPr indent="-323850" lvl="0" marL="457200" rtl="0" algn="just">
              <a:lnSpc>
                <a:spcPct val="115000"/>
              </a:lnSpc>
              <a:spcBef>
                <a:spcPts val="0"/>
              </a:spcBef>
              <a:spcAft>
                <a:spcPts val="0"/>
              </a:spcAft>
              <a:buSzPts val="1500"/>
              <a:buChar char="●"/>
            </a:pPr>
            <a:r>
              <a:rPr lang="en-US" sz="1500"/>
              <a:t>Concurrent Collection: G1 performs garbage collection concurrently, meaning that it runs in the background while the application continues to run, which helps minimize pause times.</a:t>
            </a:r>
            <a:endParaRPr sz="1500"/>
          </a:p>
          <a:p>
            <a:pPr indent="-323850" lvl="0" marL="457200" rtl="0" algn="just">
              <a:lnSpc>
                <a:spcPct val="115000"/>
              </a:lnSpc>
              <a:spcBef>
                <a:spcPts val="0"/>
              </a:spcBef>
              <a:spcAft>
                <a:spcPts val="0"/>
              </a:spcAft>
              <a:buSzPts val="1500"/>
              <a:buChar char="●"/>
            </a:pPr>
            <a:r>
              <a:rPr lang="en-US" sz="1500"/>
              <a:t>Predictable Pause Times: G1 allows users to specify a desired maximum pause time, and it tries to meet this target by adjusting the frequency and duration of garbage collection cycles.</a:t>
            </a:r>
            <a:endParaRPr sz="1500"/>
          </a:p>
          <a:p>
            <a:pPr indent="-323850" lvl="0" marL="457200" rtl="0" algn="just">
              <a:lnSpc>
                <a:spcPct val="115000"/>
              </a:lnSpc>
              <a:spcBef>
                <a:spcPts val="0"/>
              </a:spcBef>
              <a:spcAft>
                <a:spcPts val="0"/>
              </a:spcAft>
              <a:buSzPts val="1500"/>
              <a:buChar char="●"/>
            </a:pPr>
            <a:r>
              <a:rPr lang="en-US" sz="1500"/>
              <a:t>Phases of G1 GC:</a:t>
            </a:r>
            <a:endParaRPr sz="1500"/>
          </a:p>
          <a:p>
            <a:pPr indent="-323850" lvl="1" marL="914400" rtl="0" algn="just">
              <a:lnSpc>
                <a:spcPct val="115000"/>
              </a:lnSpc>
              <a:spcBef>
                <a:spcPts val="0"/>
              </a:spcBef>
              <a:spcAft>
                <a:spcPts val="0"/>
              </a:spcAft>
              <a:buSzPts val="1500"/>
              <a:buChar char="○"/>
            </a:pPr>
            <a:r>
              <a:rPr lang="en-US" sz="1500"/>
              <a:t>Young GC: This collects the young generation (Eden + Survivor spaces).</a:t>
            </a:r>
            <a:endParaRPr sz="1500"/>
          </a:p>
          <a:p>
            <a:pPr indent="-323850" lvl="1" marL="914400" rtl="0" algn="just">
              <a:lnSpc>
                <a:spcPct val="115000"/>
              </a:lnSpc>
              <a:spcBef>
                <a:spcPts val="0"/>
              </a:spcBef>
              <a:spcAft>
                <a:spcPts val="0"/>
              </a:spcAft>
              <a:buSzPts val="1500"/>
              <a:buChar char="○"/>
            </a:pPr>
            <a:r>
              <a:rPr lang="en-US" sz="1500"/>
              <a:t>Mixed GC: This collects both the young generation and some regions from the old generation.</a:t>
            </a:r>
            <a:endParaRPr sz="1500"/>
          </a:p>
          <a:p>
            <a:pPr indent="-323850" lvl="1" marL="914400" rtl="0" algn="just">
              <a:lnSpc>
                <a:spcPct val="115000"/>
              </a:lnSpc>
              <a:spcBef>
                <a:spcPts val="0"/>
              </a:spcBef>
              <a:spcAft>
                <a:spcPts val="0"/>
              </a:spcAft>
              <a:buSzPts val="1500"/>
              <a:buChar char="○"/>
            </a:pPr>
            <a:r>
              <a:rPr lang="en-US" sz="1500"/>
              <a:t>Full GC: This is similar to a full garbage collection but is typically triggered less frequently than in older collectors.</a:t>
            </a:r>
            <a:endParaRPr sz="1500"/>
          </a:p>
          <a:p>
            <a:pPr indent="0" lvl="0" marL="0" rtl="0" algn="l">
              <a:spcBef>
                <a:spcPts val="12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354e0099f5_1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68" name="Google Shape;168;g3354e0099f5_1_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85000" lnSpcReduction="20000"/>
          </a:bodyPr>
          <a:lstStyle/>
          <a:p>
            <a:pPr indent="0" lvl="0" marL="0" rtl="0" algn="just">
              <a:spcBef>
                <a:spcPts val="1000"/>
              </a:spcBef>
              <a:spcAft>
                <a:spcPts val="0"/>
              </a:spcAft>
              <a:buNone/>
            </a:pPr>
            <a:r>
              <a:rPr b="1" lang="en-US" sz="2000"/>
              <a:t>Z Garbage Collector (ZGC):</a:t>
            </a:r>
            <a:endParaRPr b="1" sz="2000"/>
          </a:p>
          <a:p>
            <a:pPr indent="0" lvl="0" marL="0" rtl="0" algn="just">
              <a:spcBef>
                <a:spcPts val="1000"/>
              </a:spcBef>
              <a:spcAft>
                <a:spcPts val="0"/>
              </a:spcAft>
              <a:buNone/>
            </a:pPr>
            <a:r>
              <a:rPr lang="en-US" sz="2000"/>
              <a:t>The ZGC (Z Garbage Collector) is a low-latency garbage collector introduced in JEP 333 in JDK 11. It is designed to handle large heaps (multi-terabyte heaps) and minimize the pause times associated with garbage collection. ZGC is especially useful for applications where very low latency is crucial.</a:t>
            </a:r>
            <a:endParaRPr sz="2000"/>
          </a:p>
          <a:p>
            <a:pPr indent="0" lvl="0" marL="0" rtl="0" algn="just">
              <a:lnSpc>
                <a:spcPct val="115000"/>
              </a:lnSpc>
              <a:spcBef>
                <a:spcPts val="1200"/>
              </a:spcBef>
              <a:spcAft>
                <a:spcPts val="0"/>
              </a:spcAft>
              <a:buClr>
                <a:schemeClr val="dk1"/>
              </a:buClr>
              <a:buSzPct val="55000"/>
              <a:buFont typeface="Arial"/>
              <a:buNone/>
            </a:pPr>
            <a:r>
              <a:rPr lang="en-US" sz="2000"/>
              <a:t>Key Features of ZGC:</a:t>
            </a:r>
            <a:endParaRPr sz="2000"/>
          </a:p>
          <a:p>
            <a:pPr indent="-336550" lvl="0" marL="457200" rtl="0" algn="just">
              <a:lnSpc>
                <a:spcPct val="115000"/>
              </a:lnSpc>
              <a:spcBef>
                <a:spcPts val="1200"/>
              </a:spcBef>
              <a:spcAft>
                <a:spcPts val="0"/>
              </a:spcAft>
              <a:buSzPct val="100000"/>
              <a:buChar char="●"/>
            </a:pPr>
            <a:r>
              <a:rPr lang="en-US" sz="2000"/>
              <a:t>Concurrent and Low-Latency: ZGC minimizes stop-the-world pause times to sub-millisecond levels, which is useful for applications requiring extremely low-latency operations.</a:t>
            </a:r>
            <a:endParaRPr sz="2000"/>
          </a:p>
          <a:p>
            <a:pPr indent="-336550" lvl="0" marL="457200" rtl="0" algn="just">
              <a:lnSpc>
                <a:spcPct val="115000"/>
              </a:lnSpc>
              <a:spcBef>
                <a:spcPts val="0"/>
              </a:spcBef>
              <a:spcAft>
                <a:spcPts val="0"/>
              </a:spcAft>
              <a:buSzPct val="100000"/>
              <a:buChar char="●"/>
            </a:pPr>
            <a:r>
              <a:rPr lang="en-US" sz="2000"/>
              <a:t>Region-Based: Like G1 GC, ZGC divides the heap into regions, but it performs garbage collection in a way that doesn't cause significant pauses, even for very large heaps.</a:t>
            </a:r>
            <a:endParaRPr sz="2000"/>
          </a:p>
          <a:p>
            <a:pPr indent="0" lvl="0" marL="0" rtl="0" algn="just">
              <a:lnSpc>
                <a:spcPct val="115000"/>
              </a:lnSpc>
              <a:spcBef>
                <a:spcPts val="1200"/>
              </a:spcBef>
              <a:spcAft>
                <a:spcPts val="0"/>
              </a:spcAft>
              <a:buNone/>
            </a:pPr>
            <a:r>
              <a:rPr lang="en-US" sz="2000"/>
              <a:t>When to use ZGC:</a:t>
            </a:r>
            <a:endParaRPr sz="2000"/>
          </a:p>
          <a:p>
            <a:pPr indent="-336550" lvl="0" marL="457200" rtl="0" algn="just">
              <a:lnSpc>
                <a:spcPct val="115000"/>
              </a:lnSpc>
              <a:spcBef>
                <a:spcPts val="1200"/>
              </a:spcBef>
              <a:spcAft>
                <a:spcPts val="0"/>
              </a:spcAft>
              <a:buSzPct val="100000"/>
              <a:buChar char="●"/>
            </a:pPr>
            <a:r>
              <a:rPr lang="en-US" sz="2000"/>
              <a:t>When low-latency and predictable pause times are critical, such as in real-time systems, databases, or high-frequency trading applications.</a:t>
            </a:r>
            <a:endParaRPr sz="2000"/>
          </a:p>
          <a:p>
            <a:pPr indent="-336550" lvl="0" marL="457200" rtl="0" algn="just">
              <a:lnSpc>
                <a:spcPct val="115000"/>
              </a:lnSpc>
              <a:spcBef>
                <a:spcPts val="0"/>
              </a:spcBef>
              <a:spcAft>
                <a:spcPts val="0"/>
              </a:spcAft>
              <a:buSzPct val="100000"/>
              <a:buChar char="●"/>
            </a:pPr>
            <a:r>
              <a:rPr lang="en-US" sz="2000"/>
              <a:t>ZGC is best suited for applications with large heaps (over 10 GB) and where minimal GC pause time is needed.</a:t>
            </a:r>
            <a:endParaRPr sz="2000"/>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nvSpPr>
        <p:spPr>
          <a:xfrm>
            <a:off x="184280" y="84176"/>
            <a:ext cx="609755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What is a String?</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 </a:t>
            </a:r>
            <a:r>
              <a:rPr b="1" lang="en-US" sz="1800">
                <a:solidFill>
                  <a:schemeClr val="dk1"/>
                </a:solidFill>
                <a:latin typeface="Calibri"/>
                <a:ea typeface="Calibri"/>
                <a:cs typeface="Calibri"/>
                <a:sym typeface="Calibri"/>
              </a:rPr>
              <a:t>String</a:t>
            </a:r>
            <a:r>
              <a:rPr lang="en-US" sz="1800">
                <a:solidFill>
                  <a:schemeClr val="dk1"/>
                </a:solidFill>
                <a:latin typeface="Calibri"/>
                <a:ea typeface="Calibri"/>
                <a:cs typeface="Calibri"/>
                <a:sym typeface="Calibri"/>
              </a:rPr>
              <a:t> in Java is an </a:t>
            </a:r>
            <a:r>
              <a:rPr b="1" lang="en-US" sz="1800">
                <a:solidFill>
                  <a:schemeClr val="dk1"/>
                </a:solidFill>
                <a:latin typeface="Calibri"/>
                <a:ea typeface="Calibri"/>
                <a:cs typeface="Calibri"/>
                <a:sym typeface="Calibri"/>
              </a:rPr>
              <a:t>immutable</a:t>
            </a:r>
            <a:r>
              <a:rPr lang="en-US" sz="1800">
                <a:solidFill>
                  <a:schemeClr val="dk1"/>
                </a:solidFill>
                <a:latin typeface="Calibri"/>
                <a:ea typeface="Calibri"/>
                <a:cs typeface="Calibri"/>
                <a:sym typeface="Calibri"/>
              </a:rPr>
              <a:t> sequence of characters.</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Immutable:</a:t>
            </a:r>
            <a:r>
              <a:rPr lang="en-US" sz="1800">
                <a:solidFill>
                  <a:schemeClr val="dk1"/>
                </a:solidFill>
                <a:latin typeface="Calibri"/>
                <a:ea typeface="Calibri"/>
                <a:cs typeface="Calibri"/>
                <a:sym typeface="Calibri"/>
              </a:rPr>
              <a:t> Once created, its value </a:t>
            </a:r>
            <a:r>
              <a:rPr b="1" lang="en-US" sz="1800">
                <a:solidFill>
                  <a:schemeClr val="dk1"/>
                </a:solidFill>
                <a:latin typeface="Calibri"/>
                <a:ea typeface="Calibri"/>
                <a:cs typeface="Calibri"/>
                <a:sym typeface="Calibri"/>
              </a:rPr>
              <a:t>cannot</a:t>
            </a:r>
            <a:r>
              <a:rPr lang="en-US" sz="1800">
                <a:solidFill>
                  <a:schemeClr val="dk1"/>
                </a:solidFill>
                <a:latin typeface="Calibri"/>
                <a:ea typeface="Calibri"/>
                <a:cs typeface="Calibri"/>
                <a:sym typeface="Calibri"/>
              </a:rPr>
              <a:t> be changed.</a:t>
            </a:r>
            <a:endParaRPr/>
          </a:p>
        </p:txBody>
      </p:sp>
      <p:pic>
        <p:nvPicPr>
          <p:cNvPr id="174" name="Google Shape;174;p11"/>
          <p:cNvPicPr preferRelativeResize="0"/>
          <p:nvPr/>
        </p:nvPicPr>
        <p:blipFill rotWithShape="1">
          <a:blip r:embed="rId3">
            <a:alphaModFix/>
          </a:blip>
          <a:srcRect b="0" l="0" r="0" t="0"/>
          <a:stretch/>
        </p:blipFill>
        <p:spPr>
          <a:xfrm>
            <a:off x="6281834" y="1"/>
            <a:ext cx="3945793" cy="3161804"/>
          </a:xfrm>
          <a:prstGeom prst="rect">
            <a:avLst/>
          </a:prstGeom>
          <a:noFill/>
          <a:ln>
            <a:noFill/>
          </a:ln>
        </p:spPr>
      </p:pic>
      <p:pic>
        <p:nvPicPr>
          <p:cNvPr id="175" name="Google Shape;175;p11"/>
          <p:cNvPicPr preferRelativeResize="0"/>
          <p:nvPr/>
        </p:nvPicPr>
        <p:blipFill rotWithShape="1">
          <a:blip r:embed="rId4">
            <a:alphaModFix/>
          </a:blip>
          <a:srcRect b="0" l="0" r="0" t="0"/>
          <a:stretch/>
        </p:blipFill>
        <p:spPr>
          <a:xfrm>
            <a:off x="184280" y="3245980"/>
            <a:ext cx="8643355" cy="358383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81" name="Google Shape;181;p12"/>
          <p:cNvPicPr preferRelativeResize="0"/>
          <p:nvPr/>
        </p:nvPicPr>
        <p:blipFill rotWithShape="1">
          <a:blip r:embed="rId3">
            <a:alphaModFix/>
          </a:blip>
          <a:srcRect b="0" l="0" r="0" t="0"/>
          <a:stretch/>
        </p:blipFill>
        <p:spPr>
          <a:xfrm>
            <a:off x="838199" y="365124"/>
            <a:ext cx="10512303" cy="405758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nvSpPr>
        <p:spPr>
          <a:xfrm>
            <a:off x="249594" y="244256"/>
            <a:ext cx="803599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What is StringBuffer?</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Mutable (modifiable) version of String</a:t>
            </a:r>
            <a:r>
              <a:rPr lang="en-US" sz="1800">
                <a:solidFill>
                  <a:schemeClr val="dk1"/>
                </a:solidFill>
                <a:latin typeface="Calibri"/>
                <a:ea typeface="Calibri"/>
                <a:cs typeface="Calibri"/>
                <a:sym typeface="Calibri"/>
              </a:rPr>
              <a:t>.</a:t>
            </a:r>
            <a:endParaRPr/>
          </a:p>
          <a:p>
            <a:pPr indent="-114300" lvl="0" marL="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Used when frequent string modifications are required.</a:t>
            </a:r>
            <a:endParaRPr/>
          </a:p>
          <a:p>
            <a:pPr indent="-114300" lvl="0" marL="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Thread-safe</a:t>
            </a:r>
            <a:r>
              <a:rPr lang="en-US" sz="1800">
                <a:solidFill>
                  <a:schemeClr val="dk1"/>
                </a:solidFill>
                <a:latin typeface="Calibri"/>
                <a:ea typeface="Calibri"/>
                <a:cs typeface="Calibri"/>
                <a:sym typeface="Calibri"/>
              </a:rPr>
              <a:t> (synchronized).</a:t>
            </a:r>
            <a:endParaRPr/>
          </a:p>
        </p:txBody>
      </p:sp>
      <p:pic>
        <p:nvPicPr>
          <p:cNvPr id="187" name="Google Shape;187;p13"/>
          <p:cNvPicPr preferRelativeResize="0"/>
          <p:nvPr/>
        </p:nvPicPr>
        <p:blipFill rotWithShape="1">
          <a:blip r:embed="rId3">
            <a:alphaModFix/>
          </a:blip>
          <a:srcRect b="0" l="0" r="0" t="0"/>
          <a:stretch/>
        </p:blipFill>
        <p:spPr>
          <a:xfrm>
            <a:off x="249594" y="2659571"/>
            <a:ext cx="8954750" cy="247684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nvSpPr>
        <p:spPr>
          <a:xfrm>
            <a:off x="632149" y="342258"/>
            <a:ext cx="6097554"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public class StringBufferExample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public static void main(String[] args)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StringBuffer sb = new StringBuffer("Hello");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sb.append(" World");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System.out.println("After Append: " + sb);</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sb.insert(6, "Java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System.out.println("After Insert: " + sb);</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sb.replace(0, 5, "Hi");</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System.out.println("After Replace: " + sb);</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sb.delete(2, 5);</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System.out.println("After Delete: " + sb);</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sb.reverse();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System.out.println("After Reverse: " + sb);</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5"/>
          <p:cNvSpPr/>
          <p:nvPr/>
        </p:nvSpPr>
        <p:spPr>
          <a:xfrm>
            <a:off x="233265" y="238818"/>
            <a:ext cx="7500771" cy="193899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What is StringTokenizer?</a:t>
            </a:r>
            <a:endParaRPr/>
          </a:p>
          <a:p>
            <a:pPr indent="0" lvl="0" marL="0" marR="0" rtl="0" algn="l">
              <a:lnSpc>
                <a:spcPct val="100000"/>
              </a:lnSpc>
              <a:spcBef>
                <a:spcPts val="0"/>
              </a:spcBef>
              <a:spcAft>
                <a:spcPts val="0"/>
              </a:spcAft>
              <a:buClr>
                <a:schemeClr val="dk1"/>
              </a:buClr>
              <a:buSzPts val="2000"/>
              <a:buFont typeface="Calibri"/>
              <a:buNone/>
            </a:pPr>
            <a:r>
              <a:t/>
            </a:r>
            <a:endParaRPr b="1"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Used for splitting a string into tokens</a:t>
            </a:r>
            <a:r>
              <a:rPr b="0" i="0" lang="en-US" sz="2000" u="none" cap="none" strike="noStrike">
                <a:solidFill>
                  <a:schemeClr val="dk1"/>
                </a:solidFill>
                <a:latin typeface="Arial"/>
                <a:ea typeface="Arial"/>
                <a:cs typeface="Arial"/>
                <a:sym typeface="Arial"/>
              </a:rPr>
              <a:t> (words, numbers, etc.).</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Defined in </a:t>
            </a:r>
            <a:r>
              <a:rPr b="0" i="0" lang="en-US" sz="2000" u="none" cap="none" strike="noStrike">
                <a:solidFill>
                  <a:schemeClr val="dk1"/>
                </a:solidFill>
                <a:latin typeface="Arimo"/>
                <a:ea typeface="Arimo"/>
                <a:cs typeface="Arimo"/>
                <a:sym typeface="Arimo"/>
              </a:rPr>
              <a:t>java.util</a:t>
            </a:r>
            <a:r>
              <a:rPr b="0" i="0" lang="en-US" sz="2000" u="none" cap="none" strike="noStrike">
                <a:solidFill>
                  <a:schemeClr val="dk1"/>
                </a:solidFill>
                <a:latin typeface="Calibri"/>
                <a:ea typeface="Calibri"/>
                <a:cs typeface="Calibri"/>
                <a:sym typeface="Calibri"/>
              </a:rPr>
              <a:t> package.</a:t>
            </a:r>
            <a:endParaRPr b="0" i="0" sz="2000" u="none" cap="none" strike="noStrike">
              <a:solidFill>
                <a:schemeClr val="dk1"/>
              </a:solidFill>
              <a:latin typeface="Arial"/>
              <a:ea typeface="Arial"/>
              <a:cs typeface="Arial"/>
              <a:sym typeface="Arial"/>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Faster than split() method</a:t>
            </a:r>
            <a:r>
              <a:rPr b="0" i="0" lang="en-US" sz="2000" u="none" cap="none" strike="noStrike">
                <a:solidFill>
                  <a:schemeClr val="dk1"/>
                </a:solidFill>
                <a:latin typeface="Arial"/>
                <a:ea typeface="Arial"/>
                <a:cs typeface="Arial"/>
                <a:sym typeface="Arial"/>
              </a:rPr>
              <a:t> of String class.</a:t>
            </a:r>
            <a:endParaRPr/>
          </a:p>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p:txBody>
      </p:sp>
      <p:pic>
        <p:nvPicPr>
          <p:cNvPr id="198" name="Google Shape;198;p15"/>
          <p:cNvPicPr preferRelativeResize="0"/>
          <p:nvPr/>
        </p:nvPicPr>
        <p:blipFill rotWithShape="1">
          <a:blip r:embed="rId3">
            <a:alphaModFix/>
          </a:blip>
          <a:srcRect b="0" l="0" r="30427" t="0"/>
          <a:stretch/>
        </p:blipFill>
        <p:spPr>
          <a:xfrm>
            <a:off x="159195" y="2071953"/>
            <a:ext cx="5056617" cy="1762371"/>
          </a:xfrm>
          <a:prstGeom prst="rect">
            <a:avLst/>
          </a:prstGeom>
          <a:noFill/>
          <a:ln>
            <a:noFill/>
          </a:ln>
        </p:spPr>
      </p:pic>
      <p:pic>
        <p:nvPicPr>
          <p:cNvPr id="199" name="Google Shape;199;p15"/>
          <p:cNvPicPr preferRelativeResize="0"/>
          <p:nvPr/>
        </p:nvPicPr>
        <p:blipFill rotWithShape="1">
          <a:blip r:embed="rId4">
            <a:alphaModFix/>
          </a:blip>
          <a:srcRect b="0" l="0" r="0" t="0"/>
          <a:stretch/>
        </p:blipFill>
        <p:spPr>
          <a:xfrm>
            <a:off x="5336068" y="2138637"/>
            <a:ext cx="6673603" cy="397291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16"/>
          <p:cNvPicPr preferRelativeResize="0"/>
          <p:nvPr/>
        </p:nvPicPr>
        <p:blipFill rotWithShape="1">
          <a:blip r:embed="rId3">
            <a:alphaModFix/>
          </a:blip>
          <a:srcRect b="0" l="0" r="0" t="0"/>
          <a:stretch/>
        </p:blipFill>
        <p:spPr>
          <a:xfrm>
            <a:off x="588403" y="613482"/>
            <a:ext cx="10067156" cy="18970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txBox="1"/>
          <p:nvPr>
            <p:ph idx="1" type="body"/>
          </p:nvPr>
        </p:nvSpPr>
        <p:spPr>
          <a:xfrm>
            <a:off x="325016" y="444178"/>
            <a:ext cx="11262900" cy="6182700"/>
          </a:xfrm>
          <a:prstGeom prst="rect">
            <a:avLst/>
          </a:prstGeom>
          <a:noFill/>
          <a:ln>
            <a:noFill/>
          </a:ln>
        </p:spPr>
        <p:txBody>
          <a:bodyPr anchorCtr="0" anchor="ctr" bIns="0" lIns="91425" spcFirstLastPara="1" rIns="91425" wrap="square" tIns="25375">
            <a:spAutoFit/>
          </a:bodyPr>
          <a:lstStyle/>
          <a:p>
            <a:pPr indent="0" lvl="0" marL="0" marR="0" rtl="0" algn="just">
              <a:lnSpc>
                <a:spcPct val="100000"/>
              </a:lnSpc>
              <a:spcBef>
                <a:spcPts val="0"/>
              </a:spcBef>
              <a:spcAft>
                <a:spcPts val="0"/>
              </a:spcAft>
              <a:buClr>
                <a:srgbClr val="404040"/>
              </a:buClr>
              <a:buSzPts val="2000"/>
              <a:buFont typeface="Arial"/>
              <a:buNone/>
            </a:pPr>
            <a:r>
              <a:rPr b="1" i="0" lang="en-US" sz="2000" u="none" cap="none" strike="noStrike">
                <a:solidFill>
                  <a:srgbClr val="404040"/>
                </a:solidFill>
                <a:latin typeface="Inter"/>
                <a:ea typeface="Inter"/>
                <a:cs typeface="Inter"/>
                <a:sym typeface="Inter"/>
              </a:rPr>
              <a:t>Scenario:</a:t>
            </a:r>
            <a:endParaRPr/>
          </a:p>
          <a:p>
            <a:pPr indent="0" lvl="0" marL="0" marR="0" rtl="0" algn="just">
              <a:lnSpc>
                <a:spcPct val="100000"/>
              </a:lnSpc>
              <a:spcBef>
                <a:spcPts val="0"/>
              </a:spcBef>
              <a:spcAft>
                <a:spcPts val="0"/>
              </a:spcAft>
              <a:buClr>
                <a:srgbClr val="404040"/>
              </a:buClr>
              <a:buSzPts val="2000"/>
              <a:buFont typeface="Arial"/>
              <a:buNone/>
            </a:pPr>
            <a:r>
              <a:rPr b="0" i="0" lang="en-US" sz="2000" u="none" cap="none" strike="noStrike">
                <a:solidFill>
                  <a:srgbClr val="404040"/>
                </a:solidFill>
                <a:latin typeface="Inter"/>
                <a:ea typeface="Inter"/>
                <a:cs typeface="Inter"/>
                <a:sym typeface="Inter"/>
              </a:rPr>
              <a:t>You are tasked with developing a simple Library Management System in Java. The system should allow users to add books, search for books by title, and display all books in the library. Each book has a title, author, and ISBN number.</a:t>
            </a:r>
            <a:endParaRPr b="1" i="0" sz="2000" u="none" cap="none" strike="noStrike">
              <a:solidFill>
                <a:srgbClr val="404040"/>
              </a:solidFill>
              <a:latin typeface="Inter"/>
              <a:ea typeface="Inter"/>
              <a:cs typeface="Inter"/>
              <a:sym typeface="Inter"/>
            </a:endParaRPr>
          </a:p>
          <a:p>
            <a:pPr indent="0" lvl="0" marL="0" marR="0" rtl="0" algn="just">
              <a:lnSpc>
                <a:spcPct val="100000"/>
              </a:lnSpc>
              <a:spcBef>
                <a:spcPts val="0"/>
              </a:spcBef>
              <a:spcAft>
                <a:spcPts val="0"/>
              </a:spcAft>
              <a:buClr>
                <a:srgbClr val="404040"/>
              </a:buClr>
              <a:buSzPts val="2000"/>
              <a:buFont typeface="Arial"/>
              <a:buNone/>
            </a:pPr>
            <a:r>
              <a:rPr b="1" i="0" lang="en-US" sz="2000" u="none" cap="none" strike="noStrike">
                <a:solidFill>
                  <a:srgbClr val="404040"/>
                </a:solidFill>
                <a:latin typeface="Inter"/>
                <a:ea typeface="Inter"/>
                <a:cs typeface="Inter"/>
                <a:sym typeface="Inter"/>
              </a:rPr>
              <a:t>Requirements:</a:t>
            </a:r>
            <a:endParaRPr/>
          </a:p>
          <a:p>
            <a:pPr indent="-127000" lvl="0" marL="0" marR="0" rtl="0" algn="just">
              <a:lnSpc>
                <a:spcPct val="100000"/>
              </a:lnSpc>
              <a:spcBef>
                <a:spcPts val="0"/>
              </a:spcBef>
              <a:spcAft>
                <a:spcPts val="0"/>
              </a:spcAft>
              <a:buClr>
                <a:srgbClr val="404040"/>
              </a:buClr>
              <a:buSzPts val="2000"/>
              <a:buFont typeface="Arial"/>
              <a:buAutoNum type="arabicPeriod"/>
            </a:pPr>
            <a:r>
              <a:rPr b="0" i="0" lang="en-US" sz="2000" u="none" cap="none" strike="noStrike">
                <a:solidFill>
                  <a:srgbClr val="404040"/>
                </a:solidFill>
                <a:latin typeface="Inter"/>
                <a:ea typeface="Inter"/>
                <a:cs typeface="Inter"/>
                <a:sym typeface="Inter"/>
              </a:rPr>
              <a:t>Create a </a:t>
            </a:r>
            <a:r>
              <a:rPr b="0" i="0" lang="en-US" sz="2000" u="none" cap="none" strike="noStrike">
                <a:solidFill>
                  <a:srgbClr val="404040"/>
                </a:solidFill>
                <a:latin typeface="Arial"/>
                <a:ea typeface="Arial"/>
                <a:cs typeface="Arial"/>
                <a:sym typeface="Arial"/>
              </a:rPr>
              <a:t>Book</a:t>
            </a:r>
            <a:r>
              <a:rPr b="0" i="0" lang="en-US" sz="2000" u="none" cap="none" strike="noStrike">
                <a:solidFill>
                  <a:srgbClr val="404040"/>
                </a:solidFill>
                <a:latin typeface="Inter"/>
                <a:ea typeface="Inter"/>
                <a:cs typeface="Inter"/>
                <a:sym typeface="Inter"/>
              </a:rPr>
              <a:t> class with the following attributes:</a:t>
            </a:r>
            <a:endParaRPr/>
          </a:p>
          <a:p>
            <a:pPr indent="-127000" lvl="1" marL="457200" marR="0" rtl="0" algn="just">
              <a:lnSpc>
                <a:spcPct val="100000"/>
              </a:lnSpc>
              <a:spcBef>
                <a:spcPts val="0"/>
              </a:spcBef>
              <a:spcAft>
                <a:spcPts val="0"/>
              </a:spcAft>
              <a:buClr>
                <a:srgbClr val="404040"/>
              </a:buClr>
              <a:buSzPts val="2000"/>
              <a:buFont typeface="Arial"/>
              <a:buChar char="•"/>
            </a:pPr>
            <a:r>
              <a:rPr b="0" i="0" lang="en-US" sz="2000" u="none" cap="none" strike="noStrike">
                <a:solidFill>
                  <a:srgbClr val="404040"/>
                </a:solidFill>
                <a:latin typeface="Arial"/>
                <a:ea typeface="Arial"/>
                <a:cs typeface="Arial"/>
                <a:sym typeface="Arial"/>
              </a:rPr>
              <a:t>title</a:t>
            </a:r>
            <a:r>
              <a:rPr b="0" i="0" lang="en-US" sz="2000" u="none" cap="none" strike="noStrike">
                <a:solidFill>
                  <a:srgbClr val="404040"/>
                </a:solidFill>
                <a:latin typeface="Inter"/>
                <a:ea typeface="Inter"/>
                <a:cs typeface="Inter"/>
                <a:sym typeface="Inter"/>
              </a:rPr>
              <a:t> (String)</a:t>
            </a:r>
            <a:endParaRPr/>
          </a:p>
          <a:p>
            <a:pPr indent="-127000" lvl="1" marL="457200" marR="0" rtl="0" algn="just">
              <a:lnSpc>
                <a:spcPct val="100000"/>
              </a:lnSpc>
              <a:spcBef>
                <a:spcPts val="0"/>
              </a:spcBef>
              <a:spcAft>
                <a:spcPts val="0"/>
              </a:spcAft>
              <a:buClr>
                <a:srgbClr val="404040"/>
              </a:buClr>
              <a:buSzPts val="2000"/>
              <a:buFont typeface="Arial"/>
              <a:buChar char="•"/>
            </a:pPr>
            <a:r>
              <a:rPr b="0" i="0" lang="en-US" sz="2000" u="none" cap="none" strike="noStrike">
                <a:solidFill>
                  <a:srgbClr val="404040"/>
                </a:solidFill>
                <a:latin typeface="Arial"/>
                <a:ea typeface="Arial"/>
                <a:cs typeface="Arial"/>
                <a:sym typeface="Arial"/>
              </a:rPr>
              <a:t>author</a:t>
            </a:r>
            <a:r>
              <a:rPr b="0" i="0" lang="en-US" sz="2000" u="none" cap="none" strike="noStrike">
                <a:solidFill>
                  <a:srgbClr val="404040"/>
                </a:solidFill>
                <a:latin typeface="Inter"/>
                <a:ea typeface="Inter"/>
                <a:cs typeface="Inter"/>
                <a:sym typeface="Inter"/>
              </a:rPr>
              <a:t> (String)</a:t>
            </a:r>
            <a:endParaRPr/>
          </a:p>
          <a:p>
            <a:pPr indent="-127000" lvl="1" marL="457200" marR="0" rtl="0" algn="just">
              <a:lnSpc>
                <a:spcPct val="100000"/>
              </a:lnSpc>
              <a:spcBef>
                <a:spcPts val="0"/>
              </a:spcBef>
              <a:spcAft>
                <a:spcPts val="0"/>
              </a:spcAft>
              <a:buClr>
                <a:srgbClr val="404040"/>
              </a:buClr>
              <a:buSzPts val="2000"/>
              <a:buFont typeface="Arial"/>
              <a:buChar char="•"/>
            </a:pPr>
            <a:r>
              <a:rPr b="0" i="0" lang="en-US" sz="2000" u="none" cap="none" strike="noStrike">
                <a:solidFill>
                  <a:srgbClr val="404040"/>
                </a:solidFill>
                <a:latin typeface="Arial"/>
                <a:ea typeface="Arial"/>
                <a:cs typeface="Arial"/>
                <a:sym typeface="Arial"/>
              </a:rPr>
              <a:t>isbn</a:t>
            </a:r>
            <a:r>
              <a:rPr b="0" i="0" lang="en-US" sz="2000" u="none" cap="none" strike="noStrike">
                <a:solidFill>
                  <a:srgbClr val="404040"/>
                </a:solidFill>
                <a:latin typeface="Inter"/>
                <a:ea typeface="Inter"/>
                <a:cs typeface="Inter"/>
                <a:sym typeface="Inter"/>
              </a:rPr>
              <a:t> (String)</a:t>
            </a:r>
            <a:endParaRPr/>
          </a:p>
          <a:p>
            <a:pPr indent="-127000" lvl="0" marL="0" marR="0" rtl="0" algn="just">
              <a:lnSpc>
                <a:spcPct val="100000"/>
              </a:lnSpc>
              <a:spcBef>
                <a:spcPts val="0"/>
              </a:spcBef>
              <a:spcAft>
                <a:spcPts val="0"/>
              </a:spcAft>
              <a:buClr>
                <a:srgbClr val="404040"/>
              </a:buClr>
              <a:buSzPts val="2000"/>
              <a:buFont typeface="Arial"/>
              <a:buAutoNum type="arabicPeriod"/>
            </a:pPr>
            <a:r>
              <a:rPr b="0" i="0" lang="en-US" sz="2000" u="none" cap="none" strike="noStrike">
                <a:solidFill>
                  <a:srgbClr val="404040"/>
                </a:solidFill>
                <a:latin typeface="Inter"/>
                <a:ea typeface="Inter"/>
                <a:cs typeface="Inter"/>
                <a:sym typeface="Inter"/>
              </a:rPr>
              <a:t>Create a </a:t>
            </a:r>
            <a:r>
              <a:rPr b="0" i="0" lang="en-US" sz="2000" u="none" cap="none" strike="noStrike">
                <a:solidFill>
                  <a:srgbClr val="404040"/>
                </a:solidFill>
                <a:latin typeface="Arial"/>
                <a:ea typeface="Arial"/>
                <a:cs typeface="Arial"/>
                <a:sym typeface="Arial"/>
              </a:rPr>
              <a:t>Library</a:t>
            </a:r>
            <a:r>
              <a:rPr b="0" i="0" lang="en-US" sz="2000" u="none" cap="none" strike="noStrike">
                <a:solidFill>
                  <a:srgbClr val="404040"/>
                </a:solidFill>
                <a:latin typeface="Inter"/>
                <a:ea typeface="Inter"/>
                <a:cs typeface="Inter"/>
                <a:sym typeface="Inter"/>
              </a:rPr>
              <a:t> class that manages a collection of books. The </a:t>
            </a:r>
            <a:r>
              <a:rPr b="0" i="0" lang="en-US" sz="2000" u="none" cap="none" strike="noStrike">
                <a:solidFill>
                  <a:srgbClr val="404040"/>
                </a:solidFill>
                <a:latin typeface="Arial"/>
                <a:ea typeface="Arial"/>
                <a:cs typeface="Arial"/>
                <a:sym typeface="Arial"/>
              </a:rPr>
              <a:t>Library</a:t>
            </a:r>
            <a:r>
              <a:rPr b="0" i="0" lang="en-US" sz="2000" u="none" cap="none" strike="noStrike">
                <a:solidFill>
                  <a:srgbClr val="404040"/>
                </a:solidFill>
                <a:latin typeface="Inter"/>
                <a:ea typeface="Inter"/>
                <a:cs typeface="Inter"/>
                <a:sym typeface="Inter"/>
              </a:rPr>
              <a:t> class should have the following methods:</a:t>
            </a:r>
            <a:endParaRPr/>
          </a:p>
          <a:p>
            <a:pPr indent="-127000" lvl="1" marL="457200" marR="0" rtl="0" algn="just">
              <a:lnSpc>
                <a:spcPct val="100000"/>
              </a:lnSpc>
              <a:spcBef>
                <a:spcPts val="0"/>
              </a:spcBef>
              <a:spcAft>
                <a:spcPts val="0"/>
              </a:spcAft>
              <a:buClr>
                <a:srgbClr val="404040"/>
              </a:buClr>
              <a:buSzPts val="2000"/>
              <a:buFont typeface="Arial"/>
              <a:buChar char="•"/>
            </a:pPr>
            <a:r>
              <a:rPr b="0" i="0" lang="en-US" sz="2000" u="none" cap="none" strike="noStrike">
                <a:solidFill>
                  <a:srgbClr val="404040"/>
                </a:solidFill>
                <a:latin typeface="Arial"/>
                <a:ea typeface="Arial"/>
                <a:cs typeface="Arial"/>
                <a:sym typeface="Arial"/>
              </a:rPr>
              <a:t>addBook(Book book)</a:t>
            </a:r>
            <a:r>
              <a:rPr b="0" i="0" lang="en-US" sz="2000" u="none" cap="none" strike="noStrike">
                <a:solidFill>
                  <a:srgbClr val="404040"/>
                </a:solidFill>
                <a:latin typeface="Inter"/>
                <a:ea typeface="Inter"/>
                <a:cs typeface="Inter"/>
                <a:sym typeface="Inter"/>
              </a:rPr>
              <a:t>: Adds a book to the library.</a:t>
            </a:r>
            <a:endParaRPr/>
          </a:p>
          <a:p>
            <a:pPr indent="-127000" lvl="1" marL="457200" marR="0" rtl="0" algn="just">
              <a:lnSpc>
                <a:spcPct val="100000"/>
              </a:lnSpc>
              <a:spcBef>
                <a:spcPts val="0"/>
              </a:spcBef>
              <a:spcAft>
                <a:spcPts val="0"/>
              </a:spcAft>
              <a:buClr>
                <a:srgbClr val="404040"/>
              </a:buClr>
              <a:buSzPts val="2000"/>
              <a:buFont typeface="Arial"/>
              <a:buChar char="•"/>
            </a:pPr>
            <a:r>
              <a:rPr b="0" i="0" lang="en-US" sz="2000" u="none" cap="none" strike="noStrike">
                <a:solidFill>
                  <a:srgbClr val="404040"/>
                </a:solidFill>
                <a:latin typeface="Arial"/>
                <a:ea typeface="Arial"/>
                <a:cs typeface="Arial"/>
                <a:sym typeface="Arial"/>
              </a:rPr>
              <a:t>searchByTitle(String title)</a:t>
            </a:r>
            <a:r>
              <a:rPr b="0" i="0" lang="en-US" sz="2000" u="none" cap="none" strike="noStrike">
                <a:solidFill>
                  <a:srgbClr val="404040"/>
                </a:solidFill>
                <a:latin typeface="Inter"/>
                <a:ea typeface="Inter"/>
                <a:cs typeface="Inter"/>
                <a:sym typeface="Inter"/>
              </a:rPr>
              <a:t>: Searches for a book by its title and returns the book if found.</a:t>
            </a:r>
            <a:endParaRPr/>
          </a:p>
          <a:p>
            <a:pPr indent="-127000" lvl="1" marL="457200" marR="0" rtl="0" algn="just">
              <a:lnSpc>
                <a:spcPct val="100000"/>
              </a:lnSpc>
              <a:spcBef>
                <a:spcPts val="0"/>
              </a:spcBef>
              <a:spcAft>
                <a:spcPts val="0"/>
              </a:spcAft>
              <a:buClr>
                <a:srgbClr val="404040"/>
              </a:buClr>
              <a:buSzPts val="2000"/>
              <a:buFont typeface="Arial"/>
              <a:buChar char="•"/>
            </a:pPr>
            <a:r>
              <a:rPr b="0" i="0" lang="en-US" sz="2000" u="none" cap="none" strike="noStrike">
                <a:solidFill>
                  <a:srgbClr val="404040"/>
                </a:solidFill>
                <a:latin typeface="Arial"/>
                <a:ea typeface="Arial"/>
                <a:cs typeface="Arial"/>
                <a:sym typeface="Arial"/>
              </a:rPr>
              <a:t>displayAllBooks()</a:t>
            </a:r>
            <a:r>
              <a:rPr b="0" i="0" lang="en-US" sz="2000" u="none" cap="none" strike="noStrike">
                <a:solidFill>
                  <a:srgbClr val="404040"/>
                </a:solidFill>
                <a:latin typeface="Inter"/>
                <a:ea typeface="Inter"/>
                <a:cs typeface="Inter"/>
                <a:sym typeface="Inter"/>
              </a:rPr>
              <a:t>: Displays all books in the library.</a:t>
            </a:r>
            <a:endParaRPr/>
          </a:p>
          <a:p>
            <a:pPr indent="-127000" lvl="0" marL="0" marR="0" rtl="0" algn="just">
              <a:lnSpc>
                <a:spcPct val="100000"/>
              </a:lnSpc>
              <a:spcBef>
                <a:spcPts val="0"/>
              </a:spcBef>
              <a:spcAft>
                <a:spcPts val="0"/>
              </a:spcAft>
              <a:buClr>
                <a:srgbClr val="404040"/>
              </a:buClr>
              <a:buSzPts val="2000"/>
              <a:buFont typeface="Arial"/>
              <a:buAutoNum type="arabicPeriod"/>
            </a:pPr>
            <a:r>
              <a:rPr b="0" i="0" lang="en-US" sz="2000" u="none" cap="none" strike="noStrike">
                <a:solidFill>
                  <a:srgbClr val="404040"/>
                </a:solidFill>
                <a:latin typeface="Inter"/>
                <a:ea typeface="Inter"/>
                <a:cs typeface="Inter"/>
                <a:sym typeface="Inter"/>
              </a:rPr>
              <a:t>Create a </a:t>
            </a:r>
            <a:r>
              <a:rPr b="0" i="0" lang="en-US" sz="2000" u="none" cap="none" strike="noStrike">
                <a:solidFill>
                  <a:srgbClr val="404040"/>
                </a:solidFill>
                <a:latin typeface="Arial"/>
                <a:ea typeface="Arial"/>
                <a:cs typeface="Arial"/>
                <a:sym typeface="Arial"/>
              </a:rPr>
              <a:t>Main</a:t>
            </a:r>
            <a:r>
              <a:rPr b="0" i="0" lang="en-US" sz="2000" u="none" cap="none" strike="noStrike">
                <a:solidFill>
                  <a:srgbClr val="404040"/>
                </a:solidFill>
                <a:latin typeface="Inter"/>
                <a:ea typeface="Inter"/>
                <a:cs typeface="Inter"/>
                <a:sym typeface="Inter"/>
              </a:rPr>
              <a:t> class to test the functionality of the </a:t>
            </a:r>
            <a:r>
              <a:rPr b="0" i="0" lang="en-US" sz="2000" u="none" cap="none" strike="noStrike">
                <a:solidFill>
                  <a:srgbClr val="404040"/>
                </a:solidFill>
                <a:latin typeface="Arial"/>
                <a:ea typeface="Arial"/>
                <a:cs typeface="Arial"/>
                <a:sym typeface="Arial"/>
              </a:rPr>
              <a:t>Library</a:t>
            </a:r>
            <a:r>
              <a:rPr b="0" i="0" lang="en-US" sz="2000" u="none" cap="none" strike="noStrike">
                <a:solidFill>
                  <a:srgbClr val="404040"/>
                </a:solidFill>
                <a:latin typeface="Inter"/>
                <a:ea typeface="Inter"/>
                <a:cs typeface="Inter"/>
                <a:sym typeface="Inter"/>
              </a:rPr>
              <a:t> class.</a:t>
            </a:r>
            <a:endParaRPr/>
          </a:p>
          <a:p>
            <a:pPr indent="0" lvl="0" marL="0" marR="0" rtl="0" algn="just">
              <a:lnSpc>
                <a:spcPct val="100000"/>
              </a:lnSpc>
              <a:spcBef>
                <a:spcPts val="0"/>
              </a:spcBef>
              <a:spcAft>
                <a:spcPts val="0"/>
              </a:spcAft>
              <a:buClr>
                <a:schemeClr val="dk1"/>
              </a:buClr>
              <a:buSzPts val="2000"/>
              <a:buFont typeface="Arial"/>
              <a:buNone/>
            </a:pPr>
            <a:r>
              <a:t/>
            </a:r>
            <a:endParaRPr b="1" i="0" sz="2000" u="none" cap="none" strike="noStrike">
              <a:solidFill>
                <a:srgbClr val="404040"/>
              </a:solidFill>
              <a:latin typeface="Inter"/>
              <a:ea typeface="Inter"/>
              <a:cs typeface="Inter"/>
              <a:sym typeface="Inter"/>
            </a:endParaRPr>
          </a:p>
          <a:p>
            <a:pPr indent="0" lvl="0" marL="0" marR="0" rtl="0" algn="just">
              <a:lnSpc>
                <a:spcPct val="100000"/>
              </a:lnSpc>
              <a:spcBef>
                <a:spcPts val="0"/>
              </a:spcBef>
              <a:spcAft>
                <a:spcPts val="0"/>
              </a:spcAft>
              <a:buClr>
                <a:srgbClr val="404040"/>
              </a:buClr>
              <a:buSzPts val="2000"/>
              <a:buFont typeface="Arial"/>
              <a:buNone/>
            </a:pPr>
            <a:r>
              <a:rPr b="1" i="0" lang="en-US" sz="2000" u="none" cap="none" strike="noStrike">
                <a:solidFill>
                  <a:srgbClr val="404040"/>
                </a:solidFill>
                <a:latin typeface="Inter"/>
                <a:ea typeface="Inter"/>
                <a:cs typeface="Inter"/>
                <a:sym typeface="Inter"/>
              </a:rPr>
              <a:t>Question:</a:t>
            </a:r>
            <a:endParaRPr/>
          </a:p>
          <a:p>
            <a:pPr indent="0" lvl="0" marL="0" marR="0" rtl="0" algn="just">
              <a:lnSpc>
                <a:spcPct val="100000"/>
              </a:lnSpc>
              <a:spcBef>
                <a:spcPts val="0"/>
              </a:spcBef>
              <a:spcAft>
                <a:spcPts val="0"/>
              </a:spcAft>
              <a:buClr>
                <a:srgbClr val="404040"/>
              </a:buClr>
              <a:buSzPts val="2000"/>
              <a:buFont typeface="Arial"/>
              <a:buNone/>
            </a:pPr>
            <a:r>
              <a:rPr b="0" i="0" lang="en-US" sz="2000" u="none" cap="none" strike="noStrike">
                <a:solidFill>
                  <a:srgbClr val="404040"/>
                </a:solidFill>
                <a:latin typeface="Inter"/>
                <a:ea typeface="Inter"/>
                <a:cs typeface="Inter"/>
                <a:sym typeface="Inter"/>
              </a:rPr>
              <a:t>Write the Java code to implement the above scenario. Your code should include the </a:t>
            </a:r>
            <a:r>
              <a:rPr b="0" i="0" lang="en-US" sz="2000" u="none" cap="none" strike="noStrike">
                <a:solidFill>
                  <a:srgbClr val="404040"/>
                </a:solidFill>
                <a:latin typeface="Arial"/>
                <a:ea typeface="Arial"/>
                <a:cs typeface="Arial"/>
                <a:sym typeface="Arial"/>
              </a:rPr>
              <a:t>Book</a:t>
            </a:r>
            <a:r>
              <a:rPr b="0" i="0" lang="en-US" sz="2000" u="none" cap="none" strike="noStrike">
                <a:solidFill>
                  <a:srgbClr val="404040"/>
                </a:solidFill>
                <a:latin typeface="Inter"/>
                <a:ea typeface="Inter"/>
                <a:cs typeface="Inter"/>
                <a:sym typeface="Inter"/>
              </a:rPr>
              <a:t> class, the </a:t>
            </a:r>
            <a:r>
              <a:rPr b="0" i="0" lang="en-US" sz="2000" u="none" cap="none" strike="noStrike">
                <a:solidFill>
                  <a:srgbClr val="404040"/>
                </a:solidFill>
                <a:latin typeface="Arial"/>
                <a:ea typeface="Arial"/>
                <a:cs typeface="Arial"/>
                <a:sym typeface="Arial"/>
              </a:rPr>
              <a:t>Library</a:t>
            </a:r>
            <a:r>
              <a:rPr b="0" i="0" lang="en-US" sz="2000" u="none" cap="none" strike="noStrike">
                <a:solidFill>
                  <a:srgbClr val="404040"/>
                </a:solidFill>
                <a:latin typeface="Inter"/>
                <a:ea typeface="Inter"/>
                <a:cs typeface="Inter"/>
                <a:sym typeface="Inter"/>
              </a:rPr>
              <a:t> class, and the </a:t>
            </a:r>
            <a:r>
              <a:rPr b="0" i="0" lang="en-US" sz="2000" u="none" cap="none" strike="noStrike">
                <a:solidFill>
                  <a:srgbClr val="404040"/>
                </a:solidFill>
                <a:latin typeface="Arial"/>
                <a:ea typeface="Arial"/>
                <a:cs typeface="Arial"/>
                <a:sym typeface="Arial"/>
              </a:rPr>
              <a:t>Main</a:t>
            </a:r>
            <a:r>
              <a:rPr b="0" i="0" lang="en-US" sz="2000" u="none" cap="none" strike="noStrike">
                <a:solidFill>
                  <a:srgbClr val="404040"/>
                </a:solidFill>
                <a:latin typeface="Inter"/>
                <a:ea typeface="Inter"/>
                <a:cs typeface="Inter"/>
                <a:sym typeface="Inter"/>
              </a:rPr>
              <a:t> class. Ensure that the </a:t>
            </a:r>
            <a:r>
              <a:rPr b="0" i="0" lang="en-US" sz="2000" u="none" cap="none" strike="noStrike">
                <a:solidFill>
                  <a:srgbClr val="404040"/>
                </a:solidFill>
                <a:latin typeface="Arial"/>
                <a:ea typeface="Arial"/>
                <a:cs typeface="Arial"/>
                <a:sym typeface="Arial"/>
              </a:rPr>
              <a:t>Main</a:t>
            </a:r>
            <a:r>
              <a:rPr b="0" i="0" lang="en-US" sz="2000" u="none" cap="none" strike="noStrike">
                <a:solidFill>
                  <a:srgbClr val="404040"/>
                </a:solidFill>
                <a:latin typeface="Inter"/>
                <a:ea typeface="Inter"/>
                <a:cs typeface="Inter"/>
                <a:sym typeface="Inter"/>
              </a:rPr>
              <a:t> class demonstrates adding books, searching for a book by title, and displaying all books.</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8"/>
          <p:cNvSpPr/>
          <p:nvPr/>
        </p:nvSpPr>
        <p:spPr>
          <a:xfrm>
            <a:off x="111969" y="79292"/>
            <a:ext cx="12192000" cy="6396615"/>
          </a:xfrm>
          <a:prstGeom prst="rect">
            <a:avLst/>
          </a:prstGeom>
          <a:noFill/>
          <a:ln>
            <a:noFill/>
          </a:ln>
        </p:spPr>
        <p:txBody>
          <a:bodyPr anchorCtr="0" anchor="ctr" bIns="0" lIns="91425" spcFirstLastPara="1" rIns="91425" wrap="square" tIns="25375">
            <a:spAutoFit/>
          </a:bodyPr>
          <a:lstStyle/>
          <a:p>
            <a:pPr indent="0" lvl="0" marL="0" marR="0" rtl="0" algn="l">
              <a:lnSpc>
                <a:spcPct val="100000"/>
              </a:lnSpc>
              <a:spcBef>
                <a:spcPts val="0"/>
              </a:spcBef>
              <a:spcAft>
                <a:spcPts val="0"/>
              </a:spcAft>
              <a:buClr>
                <a:srgbClr val="404040"/>
              </a:buClr>
              <a:buSzPts val="1800"/>
              <a:buFont typeface="Inter"/>
              <a:buNone/>
            </a:pPr>
            <a:r>
              <a:rPr b="1" i="0" lang="en-US" sz="1800" u="none" cap="none" strike="noStrike">
                <a:solidFill>
                  <a:srgbClr val="404040"/>
                </a:solidFill>
                <a:latin typeface="Inter"/>
                <a:ea typeface="Inter"/>
                <a:cs typeface="Inter"/>
                <a:sym typeface="Inter"/>
              </a:rPr>
              <a:t>Scenario:</a:t>
            </a:r>
            <a:endParaRPr/>
          </a:p>
          <a:p>
            <a:pPr indent="0" lvl="0" marL="0" marR="0" rtl="0" algn="l">
              <a:lnSpc>
                <a:spcPct val="100000"/>
              </a:lnSpc>
              <a:spcBef>
                <a:spcPts val="0"/>
              </a:spcBef>
              <a:spcAft>
                <a:spcPts val="0"/>
              </a:spcAft>
              <a:buClr>
                <a:srgbClr val="404040"/>
              </a:buClr>
              <a:buSzPts val="1800"/>
              <a:buFont typeface="Inter"/>
              <a:buNone/>
            </a:pPr>
            <a:r>
              <a:rPr b="0" i="0" lang="en-US" sz="1800" u="none" cap="none" strike="noStrike">
                <a:solidFill>
                  <a:srgbClr val="404040"/>
                </a:solidFill>
                <a:latin typeface="Inter"/>
                <a:ea typeface="Inter"/>
                <a:cs typeface="Inter"/>
                <a:sym typeface="Inter"/>
              </a:rPr>
              <a:t>You are tasked with developing a simple Student Grade Management System in Java. The system should allow users to add students, add grades for each student, calculate the average grade for a student, and display all students along with their grades and average.</a:t>
            </a:r>
            <a:endParaRPr b="1" i="0" sz="1800" u="none" cap="none" strike="noStrike">
              <a:solidFill>
                <a:srgbClr val="404040"/>
              </a:solidFill>
              <a:latin typeface="Inter"/>
              <a:ea typeface="Inter"/>
              <a:cs typeface="Inter"/>
              <a:sym typeface="Inter"/>
            </a:endParaRPr>
          </a:p>
          <a:p>
            <a:pPr indent="0" lvl="0" marL="0" marR="0" rtl="0" algn="l">
              <a:lnSpc>
                <a:spcPct val="100000"/>
              </a:lnSpc>
              <a:spcBef>
                <a:spcPts val="0"/>
              </a:spcBef>
              <a:spcAft>
                <a:spcPts val="0"/>
              </a:spcAft>
              <a:buClr>
                <a:srgbClr val="404040"/>
              </a:buClr>
              <a:buSzPts val="1800"/>
              <a:buFont typeface="Inter"/>
              <a:buNone/>
            </a:pPr>
            <a:r>
              <a:rPr b="1" i="0" lang="en-US" sz="1800" u="none" cap="none" strike="noStrike">
                <a:solidFill>
                  <a:srgbClr val="404040"/>
                </a:solidFill>
                <a:latin typeface="Inter"/>
                <a:ea typeface="Inter"/>
                <a:cs typeface="Inter"/>
                <a:sym typeface="Inter"/>
              </a:rPr>
              <a:t>Requirements:</a:t>
            </a:r>
            <a:endParaRPr/>
          </a:p>
          <a:p>
            <a:pPr indent="-114300" lvl="0" marL="0" marR="0" rtl="0" algn="l">
              <a:lnSpc>
                <a:spcPct val="100000"/>
              </a:lnSpc>
              <a:spcBef>
                <a:spcPts val="0"/>
              </a:spcBef>
              <a:spcAft>
                <a:spcPts val="0"/>
              </a:spcAft>
              <a:buClr>
                <a:srgbClr val="404040"/>
              </a:buClr>
              <a:buSzPts val="1800"/>
              <a:buFont typeface="Inter"/>
              <a:buAutoNum type="arabicPeriod"/>
            </a:pPr>
            <a:r>
              <a:rPr b="0" i="0" lang="en-US" sz="1800" u="none" cap="none" strike="noStrike">
                <a:solidFill>
                  <a:srgbClr val="404040"/>
                </a:solidFill>
                <a:latin typeface="Inter"/>
                <a:ea typeface="Inter"/>
                <a:cs typeface="Inter"/>
                <a:sym typeface="Inter"/>
              </a:rPr>
              <a:t>Create a </a:t>
            </a:r>
            <a:r>
              <a:rPr b="0" i="0" lang="en-US" sz="1800" u="none" cap="none" strike="noStrike">
                <a:solidFill>
                  <a:srgbClr val="404040"/>
                </a:solidFill>
                <a:latin typeface="Arial"/>
                <a:ea typeface="Arial"/>
                <a:cs typeface="Arial"/>
                <a:sym typeface="Arial"/>
              </a:rPr>
              <a:t>Student</a:t>
            </a:r>
            <a:r>
              <a:rPr b="0" i="0" lang="en-US" sz="1800" u="none" cap="none" strike="noStrike">
                <a:solidFill>
                  <a:srgbClr val="404040"/>
                </a:solidFill>
                <a:latin typeface="Inter"/>
                <a:ea typeface="Inter"/>
                <a:cs typeface="Inter"/>
                <a:sym typeface="Inter"/>
              </a:rPr>
              <a:t> class with the following attributes:</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name</a:t>
            </a:r>
            <a:r>
              <a:rPr b="0" i="0" lang="en-US" sz="1800" u="none" cap="none" strike="noStrike">
                <a:solidFill>
                  <a:srgbClr val="404040"/>
                </a:solidFill>
                <a:latin typeface="Inter"/>
                <a:ea typeface="Inter"/>
                <a:cs typeface="Inter"/>
                <a:sym typeface="Inter"/>
              </a:rPr>
              <a:t> (String)</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grades</a:t>
            </a:r>
            <a:r>
              <a:rPr b="0" i="0" lang="en-US" sz="1800" u="none" cap="none" strike="noStrike">
                <a:solidFill>
                  <a:srgbClr val="404040"/>
                </a:solidFill>
                <a:latin typeface="Inter"/>
                <a:ea typeface="Inter"/>
                <a:cs typeface="Inter"/>
                <a:sym typeface="Inter"/>
              </a:rPr>
              <a:t> (List of Double)</a:t>
            </a:r>
            <a:endParaRPr/>
          </a:p>
          <a:p>
            <a:pPr indent="-114300" lvl="0" marL="0" marR="0" rtl="0" algn="l">
              <a:lnSpc>
                <a:spcPct val="100000"/>
              </a:lnSpc>
              <a:spcBef>
                <a:spcPts val="0"/>
              </a:spcBef>
              <a:spcAft>
                <a:spcPts val="0"/>
              </a:spcAft>
              <a:buClr>
                <a:srgbClr val="404040"/>
              </a:buClr>
              <a:buSzPts val="1800"/>
              <a:buFont typeface="Inter"/>
              <a:buAutoNum type="arabicPeriod"/>
            </a:pPr>
            <a:r>
              <a:rPr b="0" i="0" lang="en-US" sz="1800" u="none" cap="none" strike="noStrike">
                <a:solidFill>
                  <a:srgbClr val="404040"/>
                </a:solidFill>
                <a:latin typeface="Inter"/>
                <a:ea typeface="Inter"/>
                <a:cs typeface="Inter"/>
                <a:sym typeface="Inter"/>
              </a:rPr>
              <a:t>The </a:t>
            </a:r>
            <a:r>
              <a:rPr b="0" i="0" lang="en-US" sz="1800" u="none" cap="none" strike="noStrike">
                <a:solidFill>
                  <a:srgbClr val="404040"/>
                </a:solidFill>
                <a:latin typeface="Arial"/>
                <a:ea typeface="Arial"/>
                <a:cs typeface="Arial"/>
                <a:sym typeface="Arial"/>
              </a:rPr>
              <a:t>Student</a:t>
            </a:r>
            <a:r>
              <a:rPr b="0" i="0" lang="en-US" sz="1800" u="none" cap="none" strike="noStrike">
                <a:solidFill>
                  <a:srgbClr val="404040"/>
                </a:solidFill>
                <a:latin typeface="Inter"/>
                <a:ea typeface="Inter"/>
                <a:cs typeface="Inter"/>
                <a:sym typeface="Inter"/>
              </a:rPr>
              <a:t> class should have the following methods:</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addGrade(double grade)</a:t>
            </a:r>
            <a:r>
              <a:rPr b="0" i="0" lang="en-US" sz="1800" u="none" cap="none" strike="noStrike">
                <a:solidFill>
                  <a:srgbClr val="404040"/>
                </a:solidFill>
                <a:latin typeface="Inter"/>
                <a:ea typeface="Inter"/>
                <a:cs typeface="Inter"/>
                <a:sym typeface="Inter"/>
              </a:rPr>
              <a:t>: Adds a grade to the student's list of grades.</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calculateAverage()</a:t>
            </a:r>
            <a:r>
              <a:rPr b="0" i="0" lang="en-US" sz="1800" u="none" cap="none" strike="noStrike">
                <a:solidFill>
                  <a:srgbClr val="404040"/>
                </a:solidFill>
                <a:latin typeface="Inter"/>
                <a:ea typeface="Inter"/>
                <a:cs typeface="Inter"/>
                <a:sym typeface="Inter"/>
              </a:rPr>
              <a:t>: Calculates and returns the average grade of the student.</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displayStudentDetails()</a:t>
            </a:r>
            <a:r>
              <a:rPr b="0" i="0" lang="en-US" sz="1800" u="none" cap="none" strike="noStrike">
                <a:solidFill>
                  <a:srgbClr val="404040"/>
                </a:solidFill>
                <a:latin typeface="Inter"/>
                <a:ea typeface="Inter"/>
                <a:cs typeface="Inter"/>
                <a:sym typeface="Inter"/>
              </a:rPr>
              <a:t>: Displays the student's name, grades, and average.</a:t>
            </a:r>
            <a:endParaRPr/>
          </a:p>
          <a:p>
            <a:pPr indent="-114300" lvl="0" marL="0" marR="0" rtl="0" algn="l">
              <a:lnSpc>
                <a:spcPct val="100000"/>
              </a:lnSpc>
              <a:spcBef>
                <a:spcPts val="0"/>
              </a:spcBef>
              <a:spcAft>
                <a:spcPts val="0"/>
              </a:spcAft>
              <a:buClr>
                <a:srgbClr val="404040"/>
              </a:buClr>
              <a:buSzPts val="1800"/>
              <a:buFont typeface="Inter"/>
              <a:buAutoNum type="arabicPeriod"/>
            </a:pPr>
            <a:r>
              <a:rPr b="0" i="0" lang="en-US" sz="1800" u="none" cap="none" strike="noStrike">
                <a:solidFill>
                  <a:srgbClr val="404040"/>
                </a:solidFill>
                <a:latin typeface="Inter"/>
                <a:ea typeface="Inter"/>
                <a:cs typeface="Inter"/>
                <a:sym typeface="Inter"/>
              </a:rPr>
              <a:t>Create a </a:t>
            </a:r>
            <a:r>
              <a:rPr b="0" i="0" lang="en-US" sz="1800" u="none" cap="none" strike="noStrike">
                <a:solidFill>
                  <a:srgbClr val="404040"/>
                </a:solidFill>
                <a:latin typeface="Arial"/>
                <a:ea typeface="Arial"/>
                <a:cs typeface="Arial"/>
                <a:sym typeface="Arial"/>
              </a:rPr>
              <a:t>GradeManager</a:t>
            </a:r>
            <a:r>
              <a:rPr b="0" i="0" lang="en-US" sz="1800" u="none" cap="none" strike="noStrike">
                <a:solidFill>
                  <a:srgbClr val="404040"/>
                </a:solidFill>
                <a:latin typeface="Inter"/>
                <a:ea typeface="Inter"/>
                <a:cs typeface="Inter"/>
                <a:sym typeface="Inter"/>
              </a:rPr>
              <a:t> class that manages a collection of students. The </a:t>
            </a:r>
            <a:r>
              <a:rPr b="0" i="0" lang="en-US" sz="1800" u="none" cap="none" strike="noStrike">
                <a:solidFill>
                  <a:srgbClr val="404040"/>
                </a:solidFill>
                <a:latin typeface="Arial"/>
                <a:ea typeface="Arial"/>
                <a:cs typeface="Arial"/>
                <a:sym typeface="Arial"/>
              </a:rPr>
              <a:t>GradeManager</a:t>
            </a:r>
            <a:r>
              <a:rPr b="0" i="0" lang="en-US" sz="1800" u="none" cap="none" strike="noStrike">
                <a:solidFill>
                  <a:srgbClr val="404040"/>
                </a:solidFill>
                <a:latin typeface="Inter"/>
                <a:ea typeface="Inter"/>
                <a:cs typeface="Inter"/>
                <a:sym typeface="Inter"/>
              </a:rPr>
              <a:t> class should have the following methods:</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addStudent(Student student)</a:t>
            </a:r>
            <a:r>
              <a:rPr b="0" i="0" lang="en-US" sz="1800" u="none" cap="none" strike="noStrike">
                <a:solidFill>
                  <a:srgbClr val="404040"/>
                </a:solidFill>
                <a:latin typeface="Inter"/>
                <a:ea typeface="Inter"/>
                <a:cs typeface="Inter"/>
                <a:sym typeface="Inter"/>
              </a:rPr>
              <a:t>: Adds a student to the system.</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findStudentByName(String name)</a:t>
            </a:r>
            <a:r>
              <a:rPr b="0" i="0" lang="en-US" sz="1800" u="none" cap="none" strike="noStrike">
                <a:solidFill>
                  <a:srgbClr val="404040"/>
                </a:solidFill>
                <a:latin typeface="Inter"/>
                <a:ea typeface="Inter"/>
                <a:cs typeface="Inter"/>
                <a:sym typeface="Inter"/>
              </a:rPr>
              <a:t>: Finds and returns a student by their name.</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displayAllStudents()</a:t>
            </a:r>
            <a:r>
              <a:rPr b="0" i="0" lang="en-US" sz="1800" u="none" cap="none" strike="noStrike">
                <a:solidFill>
                  <a:srgbClr val="404040"/>
                </a:solidFill>
                <a:latin typeface="Inter"/>
                <a:ea typeface="Inter"/>
                <a:cs typeface="Inter"/>
                <a:sym typeface="Inter"/>
              </a:rPr>
              <a:t>: Displays all students along with their grades and average.</a:t>
            </a:r>
            <a:endParaRPr/>
          </a:p>
          <a:p>
            <a:pPr indent="-114300" lvl="0" marL="0" marR="0" rtl="0" algn="l">
              <a:lnSpc>
                <a:spcPct val="100000"/>
              </a:lnSpc>
              <a:spcBef>
                <a:spcPts val="0"/>
              </a:spcBef>
              <a:spcAft>
                <a:spcPts val="0"/>
              </a:spcAft>
              <a:buClr>
                <a:srgbClr val="404040"/>
              </a:buClr>
              <a:buSzPts val="1800"/>
              <a:buFont typeface="Inter"/>
              <a:buAutoNum type="arabicPeriod"/>
            </a:pPr>
            <a:r>
              <a:rPr b="0" i="0" lang="en-US" sz="1800" u="none" cap="none" strike="noStrike">
                <a:solidFill>
                  <a:srgbClr val="404040"/>
                </a:solidFill>
                <a:latin typeface="Inter"/>
                <a:ea typeface="Inter"/>
                <a:cs typeface="Inter"/>
                <a:sym typeface="Inter"/>
              </a:rPr>
              <a:t>Create a </a:t>
            </a:r>
            <a:r>
              <a:rPr b="0" i="0" lang="en-US" sz="1800" u="none" cap="none" strike="noStrike">
                <a:solidFill>
                  <a:srgbClr val="404040"/>
                </a:solidFill>
                <a:latin typeface="Arial"/>
                <a:ea typeface="Arial"/>
                <a:cs typeface="Arial"/>
                <a:sym typeface="Arial"/>
              </a:rPr>
              <a:t>Main</a:t>
            </a:r>
            <a:r>
              <a:rPr b="0" i="0" lang="en-US" sz="1800" u="none" cap="none" strike="noStrike">
                <a:solidFill>
                  <a:srgbClr val="404040"/>
                </a:solidFill>
                <a:latin typeface="Inter"/>
                <a:ea typeface="Inter"/>
                <a:cs typeface="Inter"/>
                <a:sym typeface="Inter"/>
              </a:rPr>
              <a:t> class to test the functionality of the </a:t>
            </a:r>
            <a:r>
              <a:rPr b="0" i="0" lang="en-US" sz="1800" u="none" cap="none" strike="noStrike">
                <a:solidFill>
                  <a:srgbClr val="404040"/>
                </a:solidFill>
                <a:latin typeface="Arial"/>
                <a:ea typeface="Arial"/>
                <a:cs typeface="Arial"/>
                <a:sym typeface="Arial"/>
              </a:rPr>
              <a:t>GradeManager</a:t>
            </a:r>
            <a:r>
              <a:rPr b="0" i="0" lang="en-US" sz="1800" u="none" cap="none" strike="noStrike">
                <a:solidFill>
                  <a:srgbClr val="404040"/>
                </a:solidFill>
                <a:latin typeface="Inter"/>
                <a:ea typeface="Inter"/>
                <a:cs typeface="Inter"/>
                <a:sym typeface="Inter"/>
              </a:rPr>
              <a:t> class.</a:t>
            </a:r>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rgbClr val="404040"/>
              </a:solidFill>
              <a:latin typeface="Inter"/>
              <a:ea typeface="Inter"/>
              <a:cs typeface="Inter"/>
              <a:sym typeface="Inter"/>
            </a:endParaRPr>
          </a:p>
          <a:p>
            <a:pPr indent="0" lvl="0" marL="0" marR="0" rtl="0" algn="l">
              <a:lnSpc>
                <a:spcPct val="100000"/>
              </a:lnSpc>
              <a:spcBef>
                <a:spcPts val="0"/>
              </a:spcBef>
              <a:spcAft>
                <a:spcPts val="0"/>
              </a:spcAft>
              <a:buClr>
                <a:srgbClr val="404040"/>
              </a:buClr>
              <a:buSzPts val="1800"/>
              <a:buFont typeface="Inter"/>
              <a:buNone/>
            </a:pPr>
            <a:r>
              <a:rPr b="1" i="0" lang="en-US" sz="1800" u="none" cap="none" strike="noStrike">
                <a:solidFill>
                  <a:srgbClr val="404040"/>
                </a:solidFill>
                <a:latin typeface="Inter"/>
                <a:ea typeface="Inter"/>
                <a:cs typeface="Inter"/>
                <a:sym typeface="Inter"/>
              </a:rPr>
              <a:t>Question:</a:t>
            </a:r>
            <a:endParaRPr/>
          </a:p>
          <a:p>
            <a:pPr indent="0" lvl="0" marL="0" marR="0" rtl="0" algn="l">
              <a:lnSpc>
                <a:spcPct val="100000"/>
              </a:lnSpc>
              <a:spcBef>
                <a:spcPts val="0"/>
              </a:spcBef>
              <a:spcAft>
                <a:spcPts val="0"/>
              </a:spcAft>
              <a:buClr>
                <a:srgbClr val="404040"/>
              </a:buClr>
              <a:buSzPts val="1800"/>
              <a:buFont typeface="Inter"/>
              <a:buNone/>
            </a:pPr>
            <a:r>
              <a:rPr b="0" i="0" lang="en-US" sz="1800" u="none" cap="none" strike="noStrike">
                <a:solidFill>
                  <a:srgbClr val="404040"/>
                </a:solidFill>
                <a:latin typeface="Inter"/>
                <a:ea typeface="Inter"/>
                <a:cs typeface="Inter"/>
                <a:sym typeface="Inter"/>
              </a:rPr>
              <a:t>Write the Java code to implement the above scenario. Your code should include the </a:t>
            </a:r>
            <a:r>
              <a:rPr b="0" i="0" lang="en-US" sz="1800" u="none" cap="none" strike="noStrike">
                <a:solidFill>
                  <a:srgbClr val="404040"/>
                </a:solidFill>
                <a:latin typeface="Arial"/>
                <a:ea typeface="Arial"/>
                <a:cs typeface="Arial"/>
                <a:sym typeface="Arial"/>
              </a:rPr>
              <a:t>Student</a:t>
            </a:r>
            <a:r>
              <a:rPr b="0" i="0" lang="en-US" sz="1800" u="none" cap="none" strike="noStrike">
                <a:solidFill>
                  <a:srgbClr val="404040"/>
                </a:solidFill>
                <a:latin typeface="Inter"/>
                <a:ea typeface="Inter"/>
                <a:cs typeface="Inter"/>
                <a:sym typeface="Inter"/>
              </a:rPr>
              <a:t> class, the </a:t>
            </a:r>
            <a:r>
              <a:rPr b="0" i="0" lang="en-US" sz="1800" u="none" cap="none" strike="noStrike">
                <a:solidFill>
                  <a:srgbClr val="404040"/>
                </a:solidFill>
                <a:latin typeface="Arial"/>
                <a:ea typeface="Arial"/>
                <a:cs typeface="Arial"/>
                <a:sym typeface="Arial"/>
              </a:rPr>
              <a:t>GradeManager</a:t>
            </a:r>
            <a:r>
              <a:rPr b="0" i="0" lang="en-US" sz="1800" u="none" cap="none" strike="noStrike">
                <a:solidFill>
                  <a:srgbClr val="404040"/>
                </a:solidFill>
                <a:latin typeface="Inter"/>
                <a:ea typeface="Inter"/>
                <a:cs typeface="Inter"/>
                <a:sym typeface="Inter"/>
              </a:rPr>
              <a:t> class, and the </a:t>
            </a:r>
            <a:r>
              <a:rPr b="0" i="0" lang="en-US" sz="1800" u="none" cap="none" strike="noStrike">
                <a:solidFill>
                  <a:srgbClr val="404040"/>
                </a:solidFill>
                <a:latin typeface="Arial"/>
                <a:ea typeface="Arial"/>
                <a:cs typeface="Arial"/>
                <a:sym typeface="Arial"/>
              </a:rPr>
              <a:t>Main</a:t>
            </a:r>
            <a:r>
              <a:rPr b="0" i="0" lang="en-US" sz="1800" u="none" cap="none" strike="noStrike">
                <a:solidFill>
                  <a:srgbClr val="404040"/>
                </a:solidFill>
                <a:latin typeface="Inter"/>
                <a:ea typeface="Inter"/>
                <a:cs typeface="Inter"/>
                <a:sym typeface="Inter"/>
              </a:rPr>
              <a:t> class. Ensure that the </a:t>
            </a:r>
            <a:r>
              <a:rPr b="0" i="0" lang="en-US" sz="1800" u="none" cap="none" strike="noStrike">
                <a:solidFill>
                  <a:srgbClr val="404040"/>
                </a:solidFill>
                <a:latin typeface="Arial"/>
                <a:ea typeface="Arial"/>
                <a:cs typeface="Arial"/>
                <a:sym typeface="Arial"/>
              </a:rPr>
              <a:t>Main</a:t>
            </a:r>
            <a:r>
              <a:rPr b="0" i="0" lang="en-US" sz="1800" u="none" cap="none" strike="noStrike">
                <a:solidFill>
                  <a:srgbClr val="404040"/>
                </a:solidFill>
                <a:latin typeface="Inter"/>
                <a:ea typeface="Inter"/>
                <a:cs typeface="Inter"/>
                <a:sym typeface="Inter"/>
              </a:rPr>
              <a:t> class demonstrates adding students, adding grades, calculating averages, and displaying all students.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9"/>
          <p:cNvSpPr/>
          <p:nvPr/>
        </p:nvSpPr>
        <p:spPr>
          <a:xfrm>
            <a:off x="65315" y="92765"/>
            <a:ext cx="12192000" cy="5011620"/>
          </a:xfrm>
          <a:prstGeom prst="rect">
            <a:avLst/>
          </a:prstGeom>
          <a:noFill/>
          <a:ln>
            <a:noFill/>
          </a:ln>
        </p:spPr>
        <p:txBody>
          <a:bodyPr anchorCtr="0" anchor="ctr" bIns="0" lIns="91425" spcFirstLastPara="1" rIns="91425" wrap="square" tIns="25375">
            <a:spAutoFit/>
          </a:bodyPr>
          <a:lstStyle/>
          <a:p>
            <a:pPr indent="0" lvl="0" marL="0" marR="0" rtl="0" algn="l">
              <a:lnSpc>
                <a:spcPct val="100000"/>
              </a:lnSpc>
              <a:spcBef>
                <a:spcPts val="0"/>
              </a:spcBef>
              <a:spcAft>
                <a:spcPts val="0"/>
              </a:spcAft>
              <a:buClr>
                <a:srgbClr val="404040"/>
              </a:buClr>
              <a:buSzPts val="1800"/>
              <a:buFont typeface="Inter"/>
              <a:buNone/>
            </a:pPr>
            <a:r>
              <a:rPr b="1" i="0" lang="en-US" sz="1800" u="none" cap="none" strike="noStrike">
                <a:solidFill>
                  <a:srgbClr val="404040"/>
                </a:solidFill>
                <a:latin typeface="Inter"/>
                <a:ea typeface="Inter"/>
                <a:cs typeface="Inter"/>
                <a:sym typeface="Inter"/>
              </a:rPr>
              <a:t>Scenario:</a:t>
            </a:r>
            <a:endParaRPr/>
          </a:p>
          <a:p>
            <a:pPr indent="0" lvl="0" marL="0" marR="0" rtl="0" algn="l">
              <a:lnSpc>
                <a:spcPct val="100000"/>
              </a:lnSpc>
              <a:spcBef>
                <a:spcPts val="0"/>
              </a:spcBef>
              <a:spcAft>
                <a:spcPts val="0"/>
              </a:spcAft>
              <a:buClr>
                <a:srgbClr val="404040"/>
              </a:buClr>
              <a:buSzPts val="1800"/>
              <a:buFont typeface="Inter"/>
              <a:buNone/>
            </a:pPr>
            <a:r>
              <a:rPr b="0" i="0" lang="en-US" sz="1800" u="none" cap="none" strike="noStrike">
                <a:solidFill>
                  <a:srgbClr val="404040"/>
                </a:solidFill>
                <a:latin typeface="Inter"/>
                <a:ea typeface="Inter"/>
                <a:cs typeface="Inter"/>
                <a:sym typeface="Inter"/>
              </a:rPr>
              <a:t>You are tasked with developing a simple Online Shopping Cart System in Java. The system should allow users to add products to a shopping cart, remove products, calculate the total cost of the cart, and display all products in the cart.</a:t>
            </a:r>
            <a:endParaRPr b="1" i="0" sz="1800" u="none" cap="none" strike="noStrike">
              <a:solidFill>
                <a:srgbClr val="404040"/>
              </a:solidFill>
              <a:latin typeface="Inter"/>
              <a:ea typeface="Inter"/>
              <a:cs typeface="Inter"/>
              <a:sym typeface="Inter"/>
            </a:endParaRPr>
          </a:p>
          <a:p>
            <a:pPr indent="0" lvl="0" marL="0" marR="0" rtl="0" algn="l">
              <a:lnSpc>
                <a:spcPct val="100000"/>
              </a:lnSpc>
              <a:spcBef>
                <a:spcPts val="0"/>
              </a:spcBef>
              <a:spcAft>
                <a:spcPts val="0"/>
              </a:spcAft>
              <a:buClr>
                <a:srgbClr val="404040"/>
              </a:buClr>
              <a:buSzPts val="1800"/>
              <a:buFont typeface="Inter"/>
              <a:buNone/>
            </a:pPr>
            <a:r>
              <a:rPr b="1" i="0" lang="en-US" sz="1800" u="none" cap="none" strike="noStrike">
                <a:solidFill>
                  <a:srgbClr val="404040"/>
                </a:solidFill>
                <a:latin typeface="Inter"/>
                <a:ea typeface="Inter"/>
                <a:cs typeface="Inter"/>
                <a:sym typeface="Inter"/>
              </a:rPr>
              <a:t>Requirements:</a:t>
            </a:r>
            <a:endParaRPr/>
          </a:p>
          <a:p>
            <a:pPr indent="-114300" lvl="0" marL="0" marR="0" rtl="0" algn="l">
              <a:lnSpc>
                <a:spcPct val="100000"/>
              </a:lnSpc>
              <a:spcBef>
                <a:spcPts val="0"/>
              </a:spcBef>
              <a:spcAft>
                <a:spcPts val="0"/>
              </a:spcAft>
              <a:buClr>
                <a:srgbClr val="404040"/>
              </a:buClr>
              <a:buSzPts val="1800"/>
              <a:buFont typeface="Inter"/>
              <a:buAutoNum type="arabicPeriod"/>
            </a:pPr>
            <a:r>
              <a:rPr b="0" i="0" lang="en-US" sz="1800" u="none" cap="none" strike="noStrike">
                <a:solidFill>
                  <a:srgbClr val="404040"/>
                </a:solidFill>
                <a:latin typeface="Inter"/>
                <a:ea typeface="Inter"/>
                <a:cs typeface="Inter"/>
                <a:sym typeface="Inter"/>
              </a:rPr>
              <a:t>Create a </a:t>
            </a:r>
            <a:r>
              <a:rPr b="0" i="0" lang="en-US" sz="1800" u="none" cap="none" strike="noStrike">
                <a:solidFill>
                  <a:srgbClr val="404040"/>
                </a:solidFill>
                <a:latin typeface="Arial"/>
                <a:ea typeface="Arial"/>
                <a:cs typeface="Arial"/>
                <a:sym typeface="Arial"/>
              </a:rPr>
              <a:t>Product</a:t>
            </a:r>
            <a:r>
              <a:rPr b="0" i="0" lang="en-US" sz="1800" u="none" cap="none" strike="noStrike">
                <a:solidFill>
                  <a:srgbClr val="404040"/>
                </a:solidFill>
                <a:latin typeface="Inter"/>
                <a:ea typeface="Inter"/>
                <a:cs typeface="Inter"/>
                <a:sym typeface="Inter"/>
              </a:rPr>
              <a:t> class with the following attributes:</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name</a:t>
            </a:r>
            <a:r>
              <a:rPr b="0" i="0" lang="en-US" sz="1800" u="none" cap="none" strike="noStrike">
                <a:solidFill>
                  <a:srgbClr val="404040"/>
                </a:solidFill>
                <a:latin typeface="Inter"/>
                <a:ea typeface="Inter"/>
                <a:cs typeface="Inter"/>
                <a:sym typeface="Inter"/>
              </a:rPr>
              <a:t> (String)</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price</a:t>
            </a:r>
            <a:r>
              <a:rPr b="0" i="0" lang="en-US" sz="1800" u="none" cap="none" strike="noStrike">
                <a:solidFill>
                  <a:srgbClr val="404040"/>
                </a:solidFill>
                <a:latin typeface="Inter"/>
                <a:ea typeface="Inter"/>
                <a:cs typeface="Inter"/>
                <a:sym typeface="Inter"/>
              </a:rPr>
              <a:t> (double)</a:t>
            </a:r>
            <a:endParaRPr/>
          </a:p>
          <a:p>
            <a:pPr indent="-114300" lvl="0" marL="0" marR="0" rtl="0" algn="l">
              <a:lnSpc>
                <a:spcPct val="100000"/>
              </a:lnSpc>
              <a:spcBef>
                <a:spcPts val="0"/>
              </a:spcBef>
              <a:spcAft>
                <a:spcPts val="0"/>
              </a:spcAft>
              <a:buClr>
                <a:srgbClr val="404040"/>
              </a:buClr>
              <a:buSzPts val="1800"/>
              <a:buFont typeface="Inter"/>
              <a:buAutoNum type="arabicPeriod"/>
            </a:pPr>
            <a:r>
              <a:rPr b="0" i="0" lang="en-US" sz="1800" u="none" cap="none" strike="noStrike">
                <a:solidFill>
                  <a:srgbClr val="404040"/>
                </a:solidFill>
                <a:latin typeface="Inter"/>
                <a:ea typeface="Inter"/>
                <a:cs typeface="Inter"/>
                <a:sym typeface="Inter"/>
              </a:rPr>
              <a:t>Create a </a:t>
            </a:r>
            <a:r>
              <a:rPr b="0" i="0" lang="en-US" sz="1800" u="none" cap="none" strike="noStrike">
                <a:solidFill>
                  <a:srgbClr val="404040"/>
                </a:solidFill>
                <a:latin typeface="Arial"/>
                <a:ea typeface="Arial"/>
                <a:cs typeface="Arial"/>
                <a:sym typeface="Arial"/>
              </a:rPr>
              <a:t>ShoppingCart</a:t>
            </a:r>
            <a:r>
              <a:rPr b="0" i="0" lang="en-US" sz="1800" u="none" cap="none" strike="noStrike">
                <a:solidFill>
                  <a:srgbClr val="404040"/>
                </a:solidFill>
                <a:latin typeface="Inter"/>
                <a:ea typeface="Inter"/>
                <a:cs typeface="Inter"/>
                <a:sym typeface="Inter"/>
              </a:rPr>
              <a:t> class that manages a collection of products. The </a:t>
            </a:r>
            <a:r>
              <a:rPr b="0" i="0" lang="en-US" sz="1800" u="none" cap="none" strike="noStrike">
                <a:solidFill>
                  <a:srgbClr val="404040"/>
                </a:solidFill>
                <a:latin typeface="Arial"/>
                <a:ea typeface="Arial"/>
                <a:cs typeface="Arial"/>
                <a:sym typeface="Arial"/>
              </a:rPr>
              <a:t>ShoppingCart</a:t>
            </a:r>
            <a:r>
              <a:rPr b="0" i="0" lang="en-US" sz="1800" u="none" cap="none" strike="noStrike">
                <a:solidFill>
                  <a:srgbClr val="404040"/>
                </a:solidFill>
                <a:latin typeface="Inter"/>
                <a:ea typeface="Inter"/>
                <a:cs typeface="Inter"/>
                <a:sym typeface="Inter"/>
              </a:rPr>
              <a:t> class should have the following methods:</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addProduct(Product product)</a:t>
            </a:r>
            <a:r>
              <a:rPr b="0" i="0" lang="en-US" sz="1800" u="none" cap="none" strike="noStrike">
                <a:solidFill>
                  <a:srgbClr val="404040"/>
                </a:solidFill>
                <a:latin typeface="Inter"/>
                <a:ea typeface="Inter"/>
                <a:cs typeface="Inter"/>
                <a:sym typeface="Inter"/>
              </a:rPr>
              <a:t>: Adds a product to the cart.</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removeProduct(String productName)</a:t>
            </a:r>
            <a:r>
              <a:rPr b="0" i="0" lang="en-US" sz="1800" u="none" cap="none" strike="noStrike">
                <a:solidFill>
                  <a:srgbClr val="404040"/>
                </a:solidFill>
                <a:latin typeface="Inter"/>
                <a:ea typeface="Inter"/>
                <a:cs typeface="Inter"/>
                <a:sym typeface="Inter"/>
              </a:rPr>
              <a:t>: Removes a product from the cart by its name.</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calculateTotalCost()</a:t>
            </a:r>
            <a:r>
              <a:rPr b="0" i="0" lang="en-US" sz="1800" u="none" cap="none" strike="noStrike">
                <a:solidFill>
                  <a:srgbClr val="404040"/>
                </a:solidFill>
                <a:latin typeface="Inter"/>
                <a:ea typeface="Inter"/>
                <a:cs typeface="Inter"/>
                <a:sym typeface="Inter"/>
              </a:rPr>
              <a:t>: Calculates and returns the total cost of all products in the cart.</a:t>
            </a:r>
            <a:endParaRPr/>
          </a:p>
          <a:p>
            <a:pPr indent="-114300" lvl="1" marL="457200" marR="0" rtl="0" algn="l">
              <a:lnSpc>
                <a:spcPct val="100000"/>
              </a:lnSpc>
              <a:spcBef>
                <a:spcPts val="0"/>
              </a:spcBef>
              <a:spcAft>
                <a:spcPts val="0"/>
              </a:spcAft>
              <a:buClr>
                <a:srgbClr val="404040"/>
              </a:buClr>
              <a:buSzPts val="1800"/>
              <a:buFont typeface="Arial"/>
              <a:buChar char="•"/>
            </a:pPr>
            <a:r>
              <a:rPr b="0" i="0" lang="en-US" sz="1800" u="none" cap="none" strike="noStrike">
                <a:solidFill>
                  <a:srgbClr val="404040"/>
                </a:solidFill>
                <a:latin typeface="Arial"/>
                <a:ea typeface="Arial"/>
                <a:cs typeface="Arial"/>
                <a:sym typeface="Arial"/>
              </a:rPr>
              <a:t>displayCart()</a:t>
            </a:r>
            <a:r>
              <a:rPr b="0" i="0" lang="en-US" sz="1800" u="none" cap="none" strike="noStrike">
                <a:solidFill>
                  <a:srgbClr val="404040"/>
                </a:solidFill>
                <a:latin typeface="Inter"/>
                <a:ea typeface="Inter"/>
                <a:cs typeface="Inter"/>
                <a:sym typeface="Inter"/>
              </a:rPr>
              <a:t>: Displays all products in the cart along with their prices and the total cost.</a:t>
            </a:r>
            <a:endParaRPr/>
          </a:p>
          <a:p>
            <a:pPr indent="-114300" lvl="0" marL="0" marR="0" rtl="0" algn="l">
              <a:lnSpc>
                <a:spcPct val="100000"/>
              </a:lnSpc>
              <a:spcBef>
                <a:spcPts val="0"/>
              </a:spcBef>
              <a:spcAft>
                <a:spcPts val="0"/>
              </a:spcAft>
              <a:buClr>
                <a:srgbClr val="404040"/>
              </a:buClr>
              <a:buSzPts val="1800"/>
              <a:buFont typeface="Inter"/>
              <a:buAutoNum type="arabicPeriod"/>
            </a:pPr>
            <a:r>
              <a:rPr b="0" i="0" lang="en-US" sz="1800" u="none" cap="none" strike="noStrike">
                <a:solidFill>
                  <a:srgbClr val="404040"/>
                </a:solidFill>
                <a:latin typeface="Inter"/>
                <a:ea typeface="Inter"/>
                <a:cs typeface="Inter"/>
                <a:sym typeface="Inter"/>
              </a:rPr>
              <a:t>Create a </a:t>
            </a:r>
            <a:r>
              <a:rPr b="0" i="0" lang="en-US" sz="1800" u="none" cap="none" strike="noStrike">
                <a:solidFill>
                  <a:srgbClr val="404040"/>
                </a:solidFill>
                <a:latin typeface="Arial"/>
                <a:ea typeface="Arial"/>
                <a:cs typeface="Arial"/>
                <a:sym typeface="Arial"/>
              </a:rPr>
              <a:t>Main</a:t>
            </a:r>
            <a:r>
              <a:rPr b="0" i="0" lang="en-US" sz="1800" u="none" cap="none" strike="noStrike">
                <a:solidFill>
                  <a:srgbClr val="404040"/>
                </a:solidFill>
                <a:latin typeface="Inter"/>
                <a:ea typeface="Inter"/>
                <a:cs typeface="Inter"/>
                <a:sym typeface="Inter"/>
              </a:rPr>
              <a:t> class to test the functionality of the </a:t>
            </a:r>
            <a:r>
              <a:rPr b="0" i="0" lang="en-US" sz="1800" u="none" cap="none" strike="noStrike">
                <a:solidFill>
                  <a:srgbClr val="404040"/>
                </a:solidFill>
                <a:latin typeface="Arial"/>
                <a:ea typeface="Arial"/>
                <a:cs typeface="Arial"/>
                <a:sym typeface="Arial"/>
              </a:rPr>
              <a:t>ShoppingCart</a:t>
            </a:r>
            <a:r>
              <a:rPr b="0" i="0" lang="en-US" sz="1800" u="none" cap="none" strike="noStrike">
                <a:solidFill>
                  <a:srgbClr val="404040"/>
                </a:solidFill>
                <a:latin typeface="Inter"/>
                <a:ea typeface="Inter"/>
                <a:cs typeface="Inter"/>
                <a:sym typeface="Inter"/>
              </a:rPr>
              <a:t> class.</a:t>
            </a:r>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rgbClr val="404040"/>
              </a:solidFill>
              <a:latin typeface="Inter"/>
              <a:ea typeface="Inter"/>
              <a:cs typeface="Inter"/>
              <a:sym typeface="Inter"/>
            </a:endParaRPr>
          </a:p>
          <a:p>
            <a:pPr indent="0" lvl="0" marL="0" marR="0" rtl="0" algn="l">
              <a:lnSpc>
                <a:spcPct val="100000"/>
              </a:lnSpc>
              <a:spcBef>
                <a:spcPts val="0"/>
              </a:spcBef>
              <a:spcAft>
                <a:spcPts val="0"/>
              </a:spcAft>
              <a:buClr>
                <a:srgbClr val="404040"/>
              </a:buClr>
              <a:buSzPts val="1800"/>
              <a:buFont typeface="Inter"/>
              <a:buNone/>
            </a:pPr>
            <a:r>
              <a:rPr b="1" i="0" lang="en-US" sz="1800" u="none" cap="none" strike="noStrike">
                <a:solidFill>
                  <a:srgbClr val="404040"/>
                </a:solidFill>
                <a:latin typeface="Inter"/>
                <a:ea typeface="Inter"/>
                <a:cs typeface="Inter"/>
                <a:sym typeface="Inter"/>
              </a:rPr>
              <a:t>Question:</a:t>
            </a:r>
            <a:endParaRPr/>
          </a:p>
          <a:p>
            <a:pPr indent="0" lvl="0" marL="0" marR="0" rtl="0" algn="l">
              <a:lnSpc>
                <a:spcPct val="100000"/>
              </a:lnSpc>
              <a:spcBef>
                <a:spcPts val="0"/>
              </a:spcBef>
              <a:spcAft>
                <a:spcPts val="0"/>
              </a:spcAft>
              <a:buClr>
                <a:srgbClr val="404040"/>
              </a:buClr>
              <a:buSzPts val="1800"/>
              <a:buFont typeface="Inter"/>
              <a:buNone/>
            </a:pPr>
            <a:r>
              <a:rPr b="0" i="0" lang="en-US" sz="1800" u="none" cap="none" strike="noStrike">
                <a:solidFill>
                  <a:srgbClr val="404040"/>
                </a:solidFill>
                <a:latin typeface="Inter"/>
                <a:ea typeface="Inter"/>
                <a:cs typeface="Inter"/>
                <a:sym typeface="Inter"/>
              </a:rPr>
              <a:t>Write the Java code to implement the above scenario. Your code should include the </a:t>
            </a:r>
            <a:r>
              <a:rPr b="0" i="0" lang="en-US" sz="1800" u="none" cap="none" strike="noStrike">
                <a:solidFill>
                  <a:srgbClr val="404040"/>
                </a:solidFill>
                <a:latin typeface="Arial"/>
                <a:ea typeface="Arial"/>
                <a:cs typeface="Arial"/>
                <a:sym typeface="Arial"/>
              </a:rPr>
              <a:t>Product</a:t>
            </a:r>
            <a:r>
              <a:rPr b="0" i="0" lang="en-US" sz="1800" u="none" cap="none" strike="noStrike">
                <a:solidFill>
                  <a:srgbClr val="404040"/>
                </a:solidFill>
                <a:latin typeface="Inter"/>
                <a:ea typeface="Inter"/>
                <a:cs typeface="Inter"/>
                <a:sym typeface="Inter"/>
              </a:rPr>
              <a:t> class, the </a:t>
            </a:r>
            <a:r>
              <a:rPr b="0" i="0" lang="en-US" sz="1800" u="none" cap="none" strike="noStrike">
                <a:solidFill>
                  <a:srgbClr val="404040"/>
                </a:solidFill>
                <a:latin typeface="Arial"/>
                <a:ea typeface="Arial"/>
                <a:cs typeface="Arial"/>
                <a:sym typeface="Arial"/>
              </a:rPr>
              <a:t>ShoppingCart</a:t>
            </a:r>
            <a:r>
              <a:rPr b="0" i="0" lang="en-US" sz="1800" u="none" cap="none" strike="noStrike">
                <a:solidFill>
                  <a:srgbClr val="404040"/>
                </a:solidFill>
                <a:latin typeface="Inter"/>
                <a:ea typeface="Inter"/>
                <a:cs typeface="Inter"/>
                <a:sym typeface="Inter"/>
              </a:rPr>
              <a:t> class, and the </a:t>
            </a:r>
            <a:r>
              <a:rPr b="0" i="0" lang="en-US" sz="1800" u="none" cap="none" strike="noStrike">
                <a:solidFill>
                  <a:srgbClr val="404040"/>
                </a:solidFill>
                <a:latin typeface="Arial"/>
                <a:ea typeface="Arial"/>
                <a:cs typeface="Arial"/>
                <a:sym typeface="Arial"/>
              </a:rPr>
              <a:t>Main</a:t>
            </a:r>
            <a:r>
              <a:rPr b="0" i="0" lang="en-US" sz="1800" u="none" cap="none" strike="noStrike">
                <a:solidFill>
                  <a:srgbClr val="404040"/>
                </a:solidFill>
                <a:latin typeface="Inter"/>
                <a:ea typeface="Inter"/>
                <a:cs typeface="Inter"/>
                <a:sym typeface="Inter"/>
              </a:rPr>
              <a:t> class. Ensure that the </a:t>
            </a:r>
            <a:r>
              <a:rPr b="0" i="0" lang="en-US" sz="1800" u="none" cap="none" strike="noStrike">
                <a:solidFill>
                  <a:srgbClr val="404040"/>
                </a:solidFill>
                <a:latin typeface="Arial"/>
                <a:ea typeface="Arial"/>
                <a:cs typeface="Arial"/>
                <a:sym typeface="Arial"/>
              </a:rPr>
              <a:t>Main</a:t>
            </a:r>
            <a:r>
              <a:rPr b="0" i="0" lang="en-US" sz="1800" u="none" cap="none" strike="noStrike">
                <a:solidFill>
                  <a:srgbClr val="404040"/>
                </a:solidFill>
                <a:latin typeface="Inter"/>
                <a:ea typeface="Inter"/>
                <a:cs typeface="Inter"/>
                <a:sym typeface="Inter"/>
              </a:rPr>
              <a:t> class demonstrates adding products, removing products, calculating the total cost, and displaying the cart.</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0"/>
          <p:cNvSpPr/>
          <p:nvPr/>
        </p:nvSpPr>
        <p:spPr>
          <a:xfrm>
            <a:off x="0" y="70692"/>
            <a:ext cx="12192000" cy="5442507"/>
          </a:xfrm>
          <a:prstGeom prst="rect">
            <a:avLst/>
          </a:prstGeom>
          <a:noFill/>
          <a:ln>
            <a:noFill/>
          </a:ln>
        </p:spPr>
        <p:txBody>
          <a:bodyPr anchorCtr="0" anchor="ctr" bIns="0" lIns="91425" spcFirstLastPara="1" rIns="91425" wrap="square" tIns="25375">
            <a:spAutoFit/>
          </a:bodyPr>
          <a:lstStyle/>
          <a:p>
            <a:pPr indent="0" lvl="0" marL="0" marR="0" rtl="0" algn="l">
              <a:lnSpc>
                <a:spcPct val="100000"/>
              </a:lnSpc>
              <a:spcBef>
                <a:spcPts val="0"/>
              </a:spcBef>
              <a:spcAft>
                <a:spcPts val="0"/>
              </a:spcAft>
              <a:buClr>
                <a:srgbClr val="404040"/>
              </a:buClr>
              <a:buSzPts val="1600"/>
              <a:buFont typeface="Inter"/>
              <a:buNone/>
            </a:pPr>
            <a:r>
              <a:rPr b="1" i="0" lang="en-US" sz="1600" u="none" cap="none" strike="noStrike">
                <a:solidFill>
                  <a:srgbClr val="404040"/>
                </a:solidFill>
                <a:latin typeface="Inter"/>
                <a:ea typeface="Inter"/>
                <a:cs typeface="Inter"/>
                <a:sym typeface="Inter"/>
              </a:rPr>
              <a:t>Scenario:</a:t>
            </a:r>
            <a:endParaRPr/>
          </a:p>
          <a:p>
            <a:pPr indent="0" lvl="0" marL="0" marR="0" rtl="0" algn="l">
              <a:lnSpc>
                <a:spcPct val="100000"/>
              </a:lnSpc>
              <a:spcBef>
                <a:spcPts val="0"/>
              </a:spcBef>
              <a:spcAft>
                <a:spcPts val="0"/>
              </a:spcAft>
              <a:buClr>
                <a:srgbClr val="404040"/>
              </a:buClr>
              <a:buSzPts val="1600"/>
              <a:buFont typeface="Inter"/>
              <a:buNone/>
            </a:pPr>
            <a:r>
              <a:rPr b="0" i="0" lang="en-US" sz="1600" u="none" cap="none" strike="noStrike">
                <a:solidFill>
                  <a:srgbClr val="404040"/>
                </a:solidFill>
                <a:latin typeface="Inter"/>
                <a:ea typeface="Inter"/>
                <a:cs typeface="Inter"/>
                <a:sym typeface="Inter"/>
              </a:rPr>
              <a:t>You are tasked with developing a </a:t>
            </a:r>
            <a:r>
              <a:rPr b="1" i="0" lang="en-US" sz="1600" u="none" cap="none" strike="noStrike">
                <a:solidFill>
                  <a:srgbClr val="404040"/>
                </a:solidFill>
                <a:latin typeface="Inter"/>
                <a:ea typeface="Inter"/>
                <a:cs typeface="Inter"/>
                <a:sym typeface="Inter"/>
              </a:rPr>
              <a:t>Bank Account Management System</a:t>
            </a:r>
            <a:r>
              <a:rPr b="0" i="0" lang="en-US" sz="1600" u="none" cap="none" strike="noStrike">
                <a:solidFill>
                  <a:srgbClr val="404040"/>
                </a:solidFill>
                <a:latin typeface="Inter"/>
                <a:ea typeface="Inter"/>
                <a:cs typeface="Inter"/>
                <a:sym typeface="Inter"/>
              </a:rPr>
              <a:t> in Java. The system should allow users to create bank accounts, deposit money, withdraw money, transfer money between accounts, and display account details. Additionally, the system should handle exceptions such as insufficient funds and invalid transactions.</a:t>
            </a:r>
            <a:endParaRPr b="1" i="0" sz="1600" u="none" cap="none" strike="noStrike">
              <a:solidFill>
                <a:srgbClr val="404040"/>
              </a:solidFill>
              <a:latin typeface="Inter"/>
              <a:ea typeface="Inter"/>
              <a:cs typeface="Inter"/>
              <a:sym typeface="Inter"/>
            </a:endParaRPr>
          </a:p>
          <a:p>
            <a:pPr indent="0" lvl="0" marL="0" marR="0" rtl="0" algn="l">
              <a:lnSpc>
                <a:spcPct val="100000"/>
              </a:lnSpc>
              <a:spcBef>
                <a:spcPts val="0"/>
              </a:spcBef>
              <a:spcAft>
                <a:spcPts val="0"/>
              </a:spcAft>
              <a:buClr>
                <a:srgbClr val="404040"/>
              </a:buClr>
              <a:buSzPts val="1600"/>
              <a:buFont typeface="Inter"/>
              <a:buNone/>
            </a:pPr>
            <a:r>
              <a:rPr b="1" i="0" lang="en-US" sz="1600" u="none" cap="none" strike="noStrike">
                <a:solidFill>
                  <a:srgbClr val="404040"/>
                </a:solidFill>
                <a:latin typeface="Inter"/>
                <a:ea typeface="Inter"/>
                <a:cs typeface="Inter"/>
                <a:sym typeface="Inter"/>
              </a:rPr>
              <a:t>Requirements:</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Create an </a:t>
            </a:r>
            <a:r>
              <a:rPr b="0" i="0" lang="en-US" sz="1600" u="none" cap="none" strike="noStrike">
                <a:solidFill>
                  <a:srgbClr val="404040"/>
                </a:solidFill>
                <a:latin typeface="Arial"/>
                <a:ea typeface="Arial"/>
                <a:cs typeface="Arial"/>
                <a:sym typeface="Arial"/>
              </a:rPr>
              <a:t>Account</a:t>
            </a:r>
            <a:r>
              <a:rPr b="0" i="0" lang="en-US" sz="1600" u="none" cap="none" strike="noStrike">
                <a:solidFill>
                  <a:srgbClr val="404040"/>
                </a:solidFill>
                <a:latin typeface="Inter"/>
                <a:ea typeface="Inter"/>
                <a:cs typeface="Inter"/>
                <a:sym typeface="Inter"/>
              </a:rPr>
              <a:t> class with the following attributes:</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accountNumber</a:t>
            </a:r>
            <a:r>
              <a:rPr b="0" i="0" lang="en-US" sz="1600" u="none" cap="none" strike="noStrike">
                <a:solidFill>
                  <a:srgbClr val="404040"/>
                </a:solidFill>
                <a:latin typeface="Inter"/>
                <a:ea typeface="Inter"/>
                <a:cs typeface="Inter"/>
                <a:sym typeface="Inter"/>
              </a:rPr>
              <a:t> (String)</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accountHolderName</a:t>
            </a:r>
            <a:r>
              <a:rPr b="0" i="0" lang="en-US" sz="1600" u="none" cap="none" strike="noStrike">
                <a:solidFill>
                  <a:srgbClr val="404040"/>
                </a:solidFill>
                <a:latin typeface="Inter"/>
                <a:ea typeface="Inter"/>
                <a:cs typeface="Inter"/>
                <a:sym typeface="Inter"/>
              </a:rPr>
              <a:t> (String)</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balance</a:t>
            </a:r>
            <a:r>
              <a:rPr b="0" i="0" lang="en-US" sz="1600" u="none" cap="none" strike="noStrike">
                <a:solidFill>
                  <a:srgbClr val="404040"/>
                </a:solidFill>
                <a:latin typeface="Inter"/>
                <a:ea typeface="Inter"/>
                <a:cs typeface="Inter"/>
                <a:sym typeface="Inter"/>
              </a:rPr>
              <a:t> (double)</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The </a:t>
            </a:r>
            <a:r>
              <a:rPr b="0" i="0" lang="en-US" sz="1600" u="none" cap="none" strike="noStrike">
                <a:solidFill>
                  <a:srgbClr val="404040"/>
                </a:solidFill>
                <a:latin typeface="Arial"/>
                <a:ea typeface="Arial"/>
                <a:cs typeface="Arial"/>
                <a:sym typeface="Arial"/>
              </a:rPr>
              <a:t>Account</a:t>
            </a:r>
            <a:r>
              <a:rPr b="0" i="0" lang="en-US" sz="1600" u="none" cap="none" strike="noStrike">
                <a:solidFill>
                  <a:srgbClr val="404040"/>
                </a:solidFill>
                <a:latin typeface="Inter"/>
                <a:ea typeface="Inter"/>
                <a:cs typeface="Inter"/>
                <a:sym typeface="Inter"/>
              </a:rPr>
              <a:t> class should have the following methods:</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deposit(double amount)</a:t>
            </a:r>
            <a:r>
              <a:rPr b="0" i="0" lang="en-US" sz="1600" u="none" cap="none" strike="noStrike">
                <a:solidFill>
                  <a:srgbClr val="404040"/>
                </a:solidFill>
                <a:latin typeface="Inter"/>
                <a:ea typeface="Inter"/>
                <a:cs typeface="Inter"/>
                <a:sym typeface="Inter"/>
              </a:rPr>
              <a:t>: Deposits money into the account.</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withdraw(double amount)</a:t>
            </a:r>
            <a:r>
              <a:rPr b="0" i="0" lang="en-US" sz="1600" u="none" cap="none" strike="noStrike">
                <a:solidFill>
                  <a:srgbClr val="404040"/>
                </a:solidFill>
                <a:latin typeface="Inter"/>
                <a:ea typeface="Inter"/>
                <a:cs typeface="Inter"/>
                <a:sym typeface="Inter"/>
              </a:rPr>
              <a:t>: Withdraws money from the account (throws an exception if insufficient funds).</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transfer(Account targetAccount, double amount)</a:t>
            </a:r>
            <a:r>
              <a:rPr b="0" i="0" lang="en-US" sz="1600" u="none" cap="none" strike="noStrike">
                <a:solidFill>
                  <a:srgbClr val="404040"/>
                </a:solidFill>
                <a:latin typeface="Inter"/>
                <a:ea typeface="Inter"/>
                <a:cs typeface="Inter"/>
                <a:sym typeface="Inter"/>
              </a:rPr>
              <a:t>: Transfers money to another account (throws an exception if insufficient funds or invalid account).</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displayAccountDetails()</a:t>
            </a:r>
            <a:r>
              <a:rPr b="0" i="0" lang="en-US" sz="1600" u="none" cap="none" strike="noStrike">
                <a:solidFill>
                  <a:srgbClr val="404040"/>
                </a:solidFill>
                <a:latin typeface="Inter"/>
                <a:ea typeface="Inter"/>
                <a:cs typeface="Inter"/>
                <a:sym typeface="Inter"/>
              </a:rPr>
              <a:t>: Displays the account details.</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Create a </a:t>
            </a:r>
            <a:r>
              <a:rPr b="0" i="0" lang="en-US" sz="1600" u="none" cap="none" strike="noStrike">
                <a:solidFill>
                  <a:srgbClr val="404040"/>
                </a:solidFill>
                <a:latin typeface="Arial"/>
                <a:ea typeface="Arial"/>
                <a:cs typeface="Arial"/>
                <a:sym typeface="Arial"/>
              </a:rPr>
              <a:t>Bank</a:t>
            </a:r>
            <a:r>
              <a:rPr b="0" i="0" lang="en-US" sz="1600" u="none" cap="none" strike="noStrike">
                <a:solidFill>
                  <a:srgbClr val="404040"/>
                </a:solidFill>
                <a:latin typeface="Inter"/>
                <a:ea typeface="Inter"/>
                <a:cs typeface="Inter"/>
                <a:sym typeface="Inter"/>
              </a:rPr>
              <a:t> class that manages a collection of accounts. The </a:t>
            </a:r>
            <a:r>
              <a:rPr b="0" i="0" lang="en-US" sz="1600" u="none" cap="none" strike="noStrike">
                <a:solidFill>
                  <a:srgbClr val="404040"/>
                </a:solidFill>
                <a:latin typeface="Arial"/>
                <a:ea typeface="Arial"/>
                <a:cs typeface="Arial"/>
                <a:sym typeface="Arial"/>
              </a:rPr>
              <a:t>Bank</a:t>
            </a:r>
            <a:r>
              <a:rPr b="0" i="0" lang="en-US" sz="1600" u="none" cap="none" strike="noStrike">
                <a:solidFill>
                  <a:srgbClr val="404040"/>
                </a:solidFill>
                <a:latin typeface="Inter"/>
                <a:ea typeface="Inter"/>
                <a:cs typeface="Inter"/>
                <a:sym typeface="Inter"/>
              </a:rPr>
              <a:t> class should have the following methods:</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createAccount(String accountNumber, String accountHolderName, double initialBalance)</a:t>
            </a:r>
            <a:r>
              <a:rPr b="0" i="0" lang="en-US" sz="1600" u="none" cap="none" strike="noStrike">
                <a:solidFill>
                  <a:srgbClr val="404040"/>
                </a:solidFill>
                <a:latin typeface="Inter"/>
                <a:ea typeface="Inter"/>
                <a:cs typeface="Inter"/>
                <a:sym typeface="Inter"/>
              </a:rPr>
              <a:t>: Creates a new account and adds it to the bank.</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getAccount(String accountNumber)</a:t>
            </a:r>
            <a:r>
              <a:rPr b="0" i="0" lang="en-US" sz="1600" u="none" cap="none" strike="noStrike">
                <a:solidFill>
                  <a:srgbClr val="404040"/>
                </a:solidFill>
                <a:latin typeface="Inter"/>
                <a:ea typeface="Inter"/>
                <a:cs typeface="Inter"/>
                <a:sym typeface="Inter"/>
              </a:rPr>
              <a:t>: Finds and returns an account by its account number.</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displayAllAccounts()</a:t>
            </a:r>
            <a:r>
              <a:rPr b="0" i="0" lang="en-US" sz="1600" u="none" cap="none" strike="noStrike">
                <a:solidFill>
                  <a:srgbClr val="404040"/>
                </a:solidFill>
                <a:latin typeface="Inter"/>
                <a:ea typeface="Inter"/>
                <a:cs typeface="Inter"/>
                <a:sym typeface="Inter"/>
              </a:rPr>
              <a:t>: Displays all accounts in the bank.</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Create a custom exception class </a:t>
            </a:r>
            <a:r>
              <a:rPr b="0" i="0" lang="en-US" sz="1600" u="none" cap="none" strike="noStrike">
                <a:solidFill>
                  <a:srgbClr val="404040"/>
                </a:solidFill>
                <a:latin typeface="Arial"/>
                <a:ea typeface="Arial"/>
                <a:cs typeface="Arial"/>
                <a:sym typeface="Arial"/>
              </a:rPr>
              <a:t>InsufficientFundsException</a:t>
            </a:r>
            <a:r>
              <a:rPr b="0" i="0" lang="en-US" sz="1600" u="none" cap="none" strike="noStrike">
                <a:solidFill>
                  <a:srgbClr val="404040"/>
                </a:solidFill>
                <a:latin typeface="Inter"/>
                <a:ea typeface="Inter"/>
                <a:cs typeface="Inter"/>
                <a:sym typeface="Inter"/>
              </a:rPr>
              <a:t> to handle insufficient funds scenarios.</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Create a </a:t>
            </a:r>
            <a:r>
              <a:rPr b="0" i="0" lang="en-US" sz="1600" u="none" cap="none" strike="noStrike">
                <a:solidFill>
                  <a:srgbClr val="404040"/>
                </a:solidFill>
                <a:latin typeface="Arial"/>
                <a:ea typeface="Arial"/>
                <a:cs typeface="Arial"/>
                <a:sym typeface="Arial"/>
              </a:rPr>
              <a:t>Main</a:t>
            </a:r>
            <a:r>
              <a:rPr b="0" i="0" lang="en-US" sz="1600" u="none" cap="none" strike="noStrike">
                <a:solidFill>
                  <a:srgbClr val="404040"/>
                </a:solidFill>
                <a:latin typeface="Inter"/>
                <a:ea typeface="Inter"/>
                <a:cs typeface="Inter"/>
                <a:sym typeface="Inter"/>
              </a:rPr>
              <a:t> class to test the functionality of the </a:t>
            </a:r>
            <a:r>
              <a:rPr b="0" i="0" lang="en-US" sz="1600" u="none" cap="none" strike="noStrike">
                <a:solidFill>
                  <a:srgbClr val="404040"/>
                </a:solidFill>
                <a:latin typeface="Arial"/>
                <a:ea typeface="Arial"/>
                <a:cs typeface="Arial"/>
                <a:sym typeface="Arial"/>
              </a:rPr>
              <a:t>Bank</a:t>
            </a:r>
            <a:r>
              <a:rPr b="0" i="0" lang="en-US" sz="1600" u="none" cap="none" strike="noStrike">
                <a:solidFill>
                  <a:srgbClr val="404040"/>
                </a:solidFill>
                <a:latin typeface="Inter"/>
                <a:ea typeface="Inter"/>
                <a:cs typeface="Inter"/>
                <a:sym typeface="Inter"/>
              </a:rPr>
              <a:t> class.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25" name="Google Shape;225;p20"/>
          <p:cNvSpPr/>
          <p:nvPr/>
        </p:nvSpPr>
        <p:spPr>
          <a:xfrm>
            <a:off x="0" y="5513199"/>
            <a:ext cx="12192000" cy="107721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404040"/>
              </a:buClr>
              <a:buSzPts val="1600"/>
              <a:buFont typeface="Inter"/>
              <a:buNone/>
            </a:pPr>
            <a:r>
              <a:rPr b="1" i="0" lang="en-US" sz="1600" u="none" cap="none" strike="noStrike">
                <a:solidFill>
                  <a:srgbClr val="404040"/>
                </a:solidFill>
                <a:latin typeface="Inter"/>
                <a:ea typeface="Inter"/>
                <a:cs typeface="Inter"/>
                <a:sym typeface="Inter"/>
              </a:rPr>
              <a:t>Question:</a:t>
            </a:r>
            <a:endParaRPr/>
          </a:p>
          <a:p>
            <a:pPr indent="0" lvl="0" marL="0" marR="0" rtl="0" algn="l">
              <a:lnSpc>
                <a:spcPct val="100000"/>
              </a:lnSpc>
              <a:spcBef>
                <a:spcPts val="0"/>
              </a:spcBef>
              <a:spcAft>
                <a:spcPts val="0"/>
              </a:spcAft>
              <a:buClr>
                <a:srgbClr val="404040"/>
              </a:buClr>
              <a:buSzPts val="1600"/>
              <a:buFont typeface="Inter"/>
              <a:buNone/>
            </a:pPr>
            <a:r>
              <a:rPr b="0" i="0" lang="en-US" sz="1600" u="none" cap="none" strike="noStrike">
                <a:solidFill>
                  <a:srgbClr val="404040"/>
                </a:solidFill>
                <a:latin typeface="Inter"/>
                <a:ea typeface="Inter"/>
                <a:cs typeface="Inter"/>
                <a:sym typeface="Inter"/>
              </a:rPr>
              <a:t>Write the Java code to implement the above scenario. Your code should include the </a:t>
            </a:r>
            <a:r>
              <a:rPr b="0" i="0" lang="en-US" sz="1600" u="none" cap="none" strike="noStrike">
                <a:solidFill>
                  <a:srgbClr val="404040"/>
                </a:solidFill>
                <a:latin typeface="Arial"/>
                <a:ea typeface="Arial"/>
                <a:cs typeface="Arial"/>
                <a:sym typeface="Arial"/>
              </a:rPr>
              <a:t>Account</a:t>
            </a:r>
            <a:r>
              <a:rPr b="0" i="0" lang="en-US" sz="1600" u="none" cap="none" strike="noStrike">
                <a:solidFill>
                  <a:srgbClr val="404040"/>
                </a:solidFill>
                <a:latin typeface="Inter"/>
                <a:ea typeface="Inter"/>
                <a:cs typeface="Inter"/>
                <a:sym typeface="Inter"/>
              </a:rPr>
              <a:t> class, the </a:t>
            </a:r>
            <a:r>
              <a:rPr b="0" i="0" lang="en-US" sz="1600" u="none" cap="none" strike="noStrike">
                <a:solidFill>
                  <a:srgbClr val="404040"/>
                </a:solidFill>
                <a:latin typeface="Arial"/>
                <a:ea typeface="Arial"/>
                <a:cs typeface="Arial"/>
                <a:sym typeface="Arial"/>
              </a:rPr>
              <a:t>Bank</a:t>
            </a:r>
            <a:r>
              <a:rPr b="0" i="0" lang="en-US" sz="1600" u="none" cap="none" strike="noStrike">
                <a:solidFill>
                  <a:srgbClr val="404040"/>
                </a:solidFill>
                <a:latin typeface="Inter"/>
                <a:ea typeface="Inter"/>
                <a:cs typeface="Inter"/>
                <a:sym typeface="Inter"/>
              </a:rPr>
              <a:t> class, the </a:t>
            </a:r>
            <a:r>
              <a:rPr b="0" i="0" lang="en-US" sz="1600" u="none" cap="none" strike="noStrike">
                <a:solidFill>
                  <a:srgbClr val="404040"/>
                </a:solidFill>
                <a:latin typeface="Arial"/>
                <a:ea typeface="Arial"/>
                <a:cs typeface="Arial"/>
                <a:sym typeface="Arial"/>
              </a:rPr>
              <a:t>InsufficientFundsException</a:t>
            </a:r>
            <a:r>
              <a:rPr b="0" i="0" lang="en-US" sz="1600" u="none" cap="none" strike="noStrike">
                <a:solidFill>
                  <a:srgbClr val="404040"/>
                </a:solidFill>
                <a:latin typeface="Inter"/>
                <a:ea typeface="Inter"/>
                <a:cs typeface="Inter"/>
                <a:sym typeface="Inter"/>
              </a:rPr>
              <a:t> class, and the </a:t>
            </a:r>
            <a:r>
              <a:rPr b="0" i="0" lang="en-US" sz="1600" u="none" cap="none" strike="noStrike">
                <a:solidFill>
                  <a:srgbClr val="404040"/>
                </a:solidFill>
                <a:latin typeface="Arial"/>
                <a:ea typeface="Arial"/>
                <a:cs typeface="Arial"/>
                <a:sym typeface="Arial"/>
              </a:rPr>
              <a:t>Main</a:t>
            </a:r>
            <a:r>
              <a:rPr b="0" i="0" lang="en-US" sz="1600" u="none" cap="none" strike="noStrike">
                <a:solidFill>
                  <a:srgbClr val="404040"/>
                </a:solidFill>
                <a:latin typeface="Inter"/>
                <a:ea typeface="Inter"/>
                <a:cs typeface="Inter"/>
                <a:sym typeface="Inter"/>
              </a:rPr>
              <a:t> class. Ensure that the </a:t>
            </a:r>
            <a:r>
              <a:rPr b="0" i="0" lang="en-US" sz="1600" u="none" cap="none" strike="noStrike">
                <a:solidFill>
                  <a:srgbClr val="404040"/>
                </a:solidFill>
                <a:latin typeface="Arial"/>
                <a:ea typeface="Arial"/>
                <a:cs typeface="Arial"/>
                <a:sym typeface="Arial"/>
              </a:rPr>
              <a:t>Main</a:t>
            </a:r>
            <a:r>
              <a:rPr b="0" i="0" lang="en-US" sz="1600" u="none" cap="none" strike="noStrike">
                <a:solidFill>
                  <a:srgbClr val="404040"/>
                </a:solidFill>
                <a:latin typeface="Inter"/>
                <a:ea typeface="Inter"/>
                <a:cs typeface="Inter"/>
                <a:sym typeface="Inter"/>
              </a:rPr>
              <a:t> class demonstrates creating accounts, depositing, withdrawing, transferring money, and handling exceptions.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1"/>
          <p:cNvSpPr/>
          <p:nvPr/>
        </p:nvSpPr>
        <p:spPr>
          <a:xfrm>
            <a:off x="128181" y="0"/>
            <a:ext cx="11935638" cy="5934950"/>
          </a:xfrm>
          <a:prstGeom prst="rect">
            <a:avLst/>
          </a:prstGeom>
          <a:noFill/>
          <a:ln>
            <a:noFill/>
          </a:ln>
        </p:spPr>
        <p:txBody>
          <a:bodyPr anchorCtr="0" anchor="ctr" bIns="0" lIns="91425" spcFirstLastPara="1" rIns="91425" wrap="square" tIns="25375">
            <a:spAutoFit/>
          </a:bodyPr>
          <a:lstStyle/>
          <a:p>
            <a:pPr indent="0" lvl="0" marL="0" marR="0" rtl="0" algn="l">
              <a:lnSpc>
                <a:spcPct val="100000"/>
              </a:lnSpc>
              <a:spcBef>
                <a:spcPts val="0"/>
              </a:spcBef>
              <a:spcAft>
                <a:spcPts val="0"/>
              </a:spcAft>
              <a:buClr>
                <a:srgbClr val="404040"/>
              </a:buClr>
              <a:buSzPts val="1600"/>
              <a:buFont typeface="Inter"/>
              <a:buNone/>
            </a:pPr>
            <a:r>
              <a:rPr b="1" i="0" lang="en-US" sz="1600" u="none" cap="none" strike="noStrike">
                <a:solidFill>
                  <a:srgbClr val="404040"/>
                </a:solidFill>
                <a:latin typeface="Inter"/>
                <a:ea typeface="Inter"/>
                <a:cs typeface="Inter"/>
                <a:sym typeface="Inter"/>
              </a:rPr>
              <a:t>Scenario:</a:t>
            </a:r>
            <a:endParaRPr/>
          </a:p>
          <a:p>
            <a:pPr indent="0" lvl="0" marL="0" marR="0" rtl="0" algn="l">
              <a:lnSpc>
                <a:spcPct val="100000"/>
              </a:lnSpc>
              <a:spcBef>
                <a:spcPts val="0"/>
              </a:spcBef>
              <a:spcAft>
                <a:spcPts val="0"/>
              </a:spcAft>
              <a:buClr>
                <a:srgbClr val="404040"/>
              </a:buClr>
              <a:buSzPts val="1600"/>
              <a:buFont typeface="Inter"/>
              <a:buNone/>
            </a:pPr>
            <a:r>
              <a:rPr b="0" i="0" lang="en-US" sz="1600" u="none" cap="none" strike="noStrike">
                <a:solidFill>
                  <a:srgbClr val="404040"/>
                </a:solidFill>
                <a:latin typeface="Inter"/>
                <a:ea typeface="Inter"/>
                <a:cs typeface="Inter"/>
                <a:sym typeface="Inter"/>
              </a:rPr>
              <a:t>You are tasked with developing an </a:t>
            </a:r>
            <a:r>
              <a:rPr b="1" i="0" lang="en-US" sz="1600" u="none" cap="none" strike="noStrike">
                <a:solidFill>
                  <a:srgbClr val="404040"/>
                </a:solidFill>
                <a:latin typeface="Inter"/>
                <a:ea typeface="Inter"/>
                <a:cs typeface="Inter"/>
                <a:sym typeface="Inter"/>
              </a:rPr>
              <a:t>Employee Payroll Management System</a:t>
            </a:r>
            <a:r>
              <a:rPr b="0" i="0" lang="en-US" sz="1600" u="none" cap="none" strike="noStrike">
                <a:solidFill>
                  <a:srgbClr val="404040"/>
                </a:solidFill>
                <a:latin typeface="Inter"/>
                <a:ea typeface="Inter"/>
                <a:cs typeface="Inter"/>
                <a:sym typeface="Inter"/>
              </a:rPr>
              <a:t> in Java. The system should allow users to manage employees, calculate their monthly salary based on their role, and apply bonuses or deductions. The system should use a </a:t>
            </a:r>
            <a:r>
              <a:rPr b="0" i="0" lang="en-US" sz="1600" u="none" cap="none" strike="noStrike">
                <a:solidFill>
                  <a:srgbClr val="404040"/>
                </a:solidFill>
                <a:latin typeface="Arial"/>
                <a:ea typeface="Arial"/>
                <a:cs typeface="Arial"/>
                <a:sym typeface="Arial"/>
              </a:rPr>
              <a:t>switch-case</a:t>
            </a:r>
            <a:r>
              <a:rPr b="0" i="0" lang="en-US" sz="1600" u="none" cap="none" strike="noStrike">
                <a:solidFill>
                  <a:srgbClr val="404040"/>
                </a:solidFill>
                <a:latin typeface="Inter"/>
                <a:ea typeface="Inter"/>
                <a:cs typeface="Inter"/>
                <a:sym typeface="Inter"/>
              </a:rPr>
              <a:t> statement to handle different employee roles and their respective salary calculations.</a:t>
            </a:r>
            <a:endParaRPr b="1" i="0" sz="1600" u="none" cap="none" strike="noStrike">
              <a:solidFill>
                <a:srgbClr val="404040"/>
              </a:solidFill>
              <a:latin typeface="Inter"/>
              <a:ea typeface="Inter"/>
              <a:cs typeface="Inter"/>
              <a:sym typeface="Inter"/>
            </a:endParaRPr>
          </a:p>
          <a:p>
            <a:pPr indent="0" lvl="0" marL="0" marR="0" rtl="0" algn="l">
              <a:lnSpc>
                <a:spcPct val="100000"/>
              </a:lnSpc>
              <a:spcBef>
                <a:spcPts val="0"/>
              </a:spcBef>
              <a:spcAft>
                <a:spcPts val="0"/>
              </a:spcAft>
              <a:buClr>
                <a:srgbClr val="404040"/>
              </a:buClr>
              <a:buSzPts val="1600"/>
              <a:buFont typeface="Inter"/>
              <a:buNone/>
            </a:pPr>
            <a:r>
              <a:rPr b="1" i="0" lang="en-US" sz="1600" u="none" cap="none" strike="noStrike">
                <a:solidFill>
                  <a:srgbClr val="404040"/>
                </a:solidFill>
                <a:latin typeface="Inter"/>
                <a:ea typeface="Inter"/>
                <a:cs typeface="Inter"/>
                <a:sym typeface="Inter"/>
              </a:rPr>
              <a:t>Requirements:</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Create an </a:t>
            </a:r>
            <a:r>
              <a:rPr b="0" i="0" lang="en-US" sz="1600" u="none" cap="none" strike="noStrike">
                <a:solidFill>
                  <a:srgbClr val="404040"/>
                </a:solidFill>
                <a:latin typeface="Arial"/>
                <a:ea typeface="Arial"/>
                <a:cs typeface="Arial"/>
                <a:sym typeface="Arial"/>
              </a:rPr>
              <a:t>Employee</a:t>
            </a:r>
            <a:r>
              <a:rPr b="0" i="0" lang="en-US" sz="1600" u="none" cap="none" strike="noStrike">
                <a:solidFill>
                  <a:srgbClr val="404040"/>
                </a:solidFill>
                <a:latin typeface="Inter"/>
                <a:ea typeface="Inter"/>
                <a:cs typeface="Inter"/>
                <a:sym typeface="Inter"/>
              </a:rPr>
              <a:t> class with the following attributes:</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employeeId</a:t>
            </a:r>
            <a:r>
              <a:rPr b="0" i="0" lang="en-US" sz="1600" u="none" cap="none" strike="noStrike">
                <a:solidFill>
                  <a:srgbClr val="404040"/>
                </a:solidFill>
                <a:latin typeface="Inter"/>
                <a:ea typeface="Inter"/>
                <a:cs typeface="Inter"/>
                <a:sym typeface="Inter"/>
              </a:rPr>
              <a:t> (String)</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name</a:t>
            </a:r>
            <a:r>
              <a:rPr b="0" i="0" lang="en-US" sz="1600" u="none" cap="none" strike="noStrike">
                <a:solidFill>
                  <a:srgbClr val="404040"/>
                </a:solidFill>
                <a:latin typeface="Inter"/>
                <a:ea typeface="Inter"/>
                <a:cs typeface="Inter"/>
                <a:sym typeface="Inter"/>
              </a:rPr>
              <a:t> (String)</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role</a:t>
            </a:r>
            <a:r>
              <a:rPr b="0" i="0" lang="en-US" sz="1600" u="none" cap="none" strike="noStrike">
                <a:solidFill>
                  <a:srgbClr val="404040"/>
                </a:solidFill>
                <a:latin typeface="Inter"/>
                <a:ea typeface="Inter"/>
                <a:cs typeface="Inter"/>
                <a:sym typeface="Inter"/>
              </a:rPr>
              <a:t> (String) – Roles can be "Manager", "Developer", "Designer", or "Intern".</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baseSalary</a:t>
            </a:r>
            <a:r>
              <a:rPr b="0" i="0" lang="en-US" sz="1600" u="none" cap="none" strike="noStrike">
                <a:solidFill>
                  <a:srgbClr val="404040"/>
                </a:solidFill>
                <a:latin typeface="Inter"/>
                <a:ea typeface="Inter"/>
                <a:cs typeface="Inter"/>
                <a:sym typeface="Inter"/>
              </a:rPr>
              <a:t> (double)</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The </a:t>
            </a:r>
            <a:r>
              <a:rPr b="0" i="0" lang="en-US" sz="1600" u="none" cap="none" strike="noStrike">
                <a:solidFill>
                  <a:srgbClr val="404040"/>
                </a:solidFill>
                <a:latin typeface="Arial"/>
                <a:ea typeface="Arial"/>
                <a:cs typeface="Arial"/>
                <a:sym typeface="Arial"/>
              </a:rPr>
              <a:t>Employee</a:t>
            </a:r>
            <a:r>
              <a:rPr b="0" i="0" lang="en-US" sz="1600" u="none" cap="none" strike="noStrike">
                <a:solidFill>
                  <a:srgbClr val="404040"/>
                </a:solidFill>
                <a:latin typeface="Inter"/>
                <a:ea typeface="Inter"/>
                <a:cs typeface="Inter"/>
                <a:sym typeface="Inter"/>
              </a:rPr>
              <a:t> class should have the following methods:</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calculateSalary()</a:t>
            </a:r>
            <a:r>
              <a:rPr b="0" i="0" lang="en-US" sz="1600" u="none" cap="none" strike="noStrike">
                <a:solidFill>
                  <a:srgbClr val="404040"/>
                </a:solidFill>
                <a:latin typeface="Inter"/>
                <a:ea typeface="Inter"/>
                <a:cs typeface="Inter"/>
                <a:sym typeface="Inter"/>
              </a:rPr>
              <a:t>: Calculates the monthly salary based on the employee's role using a </a:t>
            </a:r>
            <a:r>
              <a:rPr b="0" i="0" lang="en-US" sz="1600" u="none" cap="none" strike="noStrike">
                <a:solidFill>
                  <a:srgbClr val="404040"/>
                </a:solidFill>
                <a:latin typeface="Arial"/>
                <a:ea typeface="Arial"/>
                <a:cs typeface="Arial"/>
                <a:sym typeface="Arial"/>
              </a:rPr>
              <a:t>switch-case</a:t>
            </a:r>
            <a:r>
              <a:rPr b="0" i="0" lang="en-US" sz="1600" u="none" cap="none" strike="noStrike">
                <a:solidFill>
                  <a:srgbClr val="404040"/>
                </a:solidFill>
                <a:latin typeface="Inter"/>
                <a:ea typeface="Inter"/>
                <a:cs typeface="Inter"/>
                <a:sym typeface="Inter"/>
              </a:rPr>
              <a:t> statement.</a:t>
            </a:r>
            <a:endParaRPr/>
          </a:p>
          <a:p>
            <a:pPr indent="-101600" lvl="2" marL="914400" marR="0" rtl="0" algn="l">
              <a:lnSpc>
                <a:spcPct val="100000"/>
              </a:lnSpc>
              <a:spcBef>
                <a:spcPts val="0"/>
              </a:spcBef>
              <a:spcAft>
                <a:spcPts val="0"/>
              </a:spcAft>
              <a:buClr>
                <a:srgbClr val="404040"/>
              </a:buClr>
              <a:buSzPts val="1600"/>
              <a:buFont typeface="Inter"/>
              <a:buChar char="•"/>
            </a:pPr>
            <a:r>
              <a:rPr b="1" i="0" lang="en-US" sz="1600" u="none" cap="none" strike="noStrike">
                <a:solidFill>
                  <a:srgbClr val="404040"/>
                </a:solidFill>
                <a:latin typeface="Inter"/>
                <a:ea typeface="Inter"/>
                <a:cs typeface="Inter"/>
                <a:sym typeface="Inter"/>
              </a:rPr>
              <a:t>Manager</a:t>
            </a:r>
            <a:r>
              <a:rPr b="0" i="0" lang="en-US" sz="1600" u="none" cap="none" strike="noStrike">
                <a:solidFill>
                  <a:srgbClr val="404040"/>
                </a:solidFill>
                <a:latin typeface="Inter"/>
                <a:ea typeface="Inter"/>
                <a:cs typeface="Inter"/>
                <a:sym typeface="Inter"/>
              </a:rPr>
              <a:t>: Base salary + 20% bonus.</a:t>
            </a:r>
            <a:endParaRPr/>
          </a:p>
          <a:p>
            <a:pPr indent="-101600" lvl="2" marL="914400" marR="0" rtl="0" algn="l">
              <a:lnSpc>
                <a:spcPct val="100000"/>
              </a:lnSpc>
              <a:spcBef>
                <a:spcPts val="0"/>
              </a:spcBef>
              <a:spcAft>
                <a:spcPts val="0"/>
              </a:spcAft>
              <a:buClr>
                <a:srgbClr val="404040"/>
              </a:buClr>
              <a:buSzPts val="1600"/>
              <a:buFont typeface="Inter"/>
              <a:buChar char="•"/>
            </a:pPr>
            <a:r>
              <a:rPr b="1" i="0" lang="en-US" sz="1600" u="none" cap="none" strike="noStrike">
                <a:solidFill>
                  <a:srgbClr val="404040"/>
                </a:solidFill>
                <a:latin typeface="Inter"/>
                <a:ea typeface="Inter"/>
                <a:cs typeface="Inter"/>
                <a:sym typeface="Inter"/>
              </a:rPr>
              <a:t>Developer</a:t>
            </a:r>
            <a:r>
              <a:rPr b="0" i="0" lang="en-US" sz="1600" u="none" cap="none" strike="noStrike">
                <a:solidFill>
                  <a:srgbClr val="404040"/>
                </a:solidFill>
                <a:latin typeface="Inter"/>
                <a:ea typeface="Inter"/>
                <a:cs typeface="Inter"/>
                <a:sym typeface="Inter"/>
              </a:rPr>
              <a:t>: Base salary + 10% bonus.</a:t>
            </a:r>
            <a:endParaRPr/>
          </a:p>
          <a:p>
            <a:pPr indent="-101600" lvl="2" marL="914400" marR="0" rtl="0" algn="l">
              <a:lnSpc>
                <a:spcPct val="100000"/>
              </a:lnSpc>
              <a:spcBef>
                <a:spcPts val="0"/>
              </a:spcBef>
              <a:spcAft>
                <a:spcPts val="0"/>
              </a:spcAft>
              <a:buClr>
                <a:srgbClr val="404040"/>
              </a:buClr>
              <a:buSzPts val="1600"/>
              <a:buFont typeface="Inter"/>
              <a:buChar char="•"/>
            </a:pPr>
            <a:r>
              <a:rPr b="1" i="0" lang="en-US" sz="1600" u="none" cap="none" strike="noStrike">
                <a:solidFill>
                  <a:srgbClr val="404040"/>
                </a:solidFill>
                <a:latin typeface="Inter"/>
                <a:ea typeface="Inter"/>
                <a:cs typeface="Inter"/>
                <a:sym typeface="Inter"/>
              </a:rPr>
              <a:t>Designer</a:t>
            </a:r>
            <a:r>
              <a:rPr b="0" i="0" lang="en-US" sz="1600" u="none" cap="none" strike="noStrike">
                <a:solidFill>
                  <a:srgbClr val="404040"/>
                </a:solidFill>
                <a:latin typeface="Inter"/>
                <a:ea typeface="Inter"/>
                <a:cs typeface="Inter"/>
                <a:sym typeface="Inter"/>
              </a:rPr>
              <a:t>: Base salary + 5% bonus.</a:t>
            </a:r>
            <a:endParaRPr/>
          </a:p>
          <a:p>
            <a:pPr indent="-101600" lvl="2" marL="914400" marR="0" rtl="0" algn="l">
              <a:lnSpc>
                <a:spcPct val="100000"/>
              </a:lnSpc>
              <a:spcBef>
                <a:spcPts val="0"/>
              </a:spcBef>
              <a:spcAft>
                <a:spcPts val="0"/>
              </a:spcAft>
              <a:buClr>
                <a:srgbClr val="404040"/>
              </a:buClr>
              <a:buSzPts val="1600"/>
              <a:buFont typeface="Inter"/>
              <a:buChar char="•"/>
            </a:pPr>
            <a:r>
              <a:rPr b="1" i="0" lang="en-US" sz="1600" u="none" cap="none" strike="noStrike">
                <a:solidFill>
                  <a:srgbClr val="404040"/>
                </a:solidFill>
                <a:latin typeface="Inter"/>
                <a:ea typeface="Inter"/>
                <a:cs typeface="Inter"/>
                <a:sym typeface="Inter"/>
              </a:rPr>
              <a:t>Intern</a:t>
            </a:r>
            <a:r>
              <a:rPr b="0" i="0" lang="en-US" sz="1600" u="none" cap="none" strike="noStrike">
                <a:solidFill>
                  <a:srgbClr val="404040"/>
                </a:solidFill>
                <a:latin typeface="Inter"/>
                <a:ea typeface="Inter"/>
                <a:cs typeface="Inter"/>
                <a:sym typeface="Inter"/>
              </a:rPr>
              <a:t>: Fixed salary of $1000 (ignores base salary).</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applyDeduction(double amount)</a:t>
            </a:r>
            <a:r>
              <a:rPr b="0" i="0" lang="en-US" sz="1600" u="none" cap="none" strike="noStrike">
                <a:solidFill>
                  <a:srgbClr val="404040"/>
                </a:solidFill>
                <a:latin typeface="Inter"/>
                <a:ea typeface="Inter"/>
                <a:cs typeface="Inter"/>
                <a:sym typeface="Inter"/>
              </a:rPr>
              <a:t>: Applies a deduction to the employee's salary.</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displayEmployeeDetails()</a:t>
            </a:r>
            <a:r>
              <a:rPr b="0" i="0" lang="en-US" sz="1600" u="none" cap="none" strike="noStrike">
                <a:solidFill>
                  <a:srgbClr val="404040"/>
                </a:solidFill>
                <a:latin typeface="Inter"/>
                <a:ea typeface="Inter"/>
                <a:cs typeface="Inter"/>
                <a:sym typeface="Inter"/>
              </a:rPr>
              <a:t>: Displays the employee's details, including their calculated salary.</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Create a </a:t>
            </a:r>
            <a:r>
              <a:rPr b="0" i="0" lang="en-US" sz="1600" u="none" cap="none" strike="noStrike">
                <a:solidFill>
                  <a:srgbClr val="404040"/>
                </a:solidFill>
                <a:latin typeface="Arial"/>
                <a:ea typeface="Arial"/>
                <a:cs typeface="Arial"/>
                <a:sym typeface="Arial"/>
              </a:rPr>
              <a:t>Payroll</a:t>
            </a:r>
            <a:r>
              <a:rPr b="0" i="0" lang="en-US" sz="1600" u="none" cap="none" strike="noStrike">
                <a:solidFill>
                  <a:srgbClr val="404040"/>
                </a:solidFill>
                <a:latin typeface="Inter"/>
                <a:ea typeface="Inter"/>
                <a:cs typeface="Inter"/>
                <a:sym typeface="Inter"/>
              </a:rPr>
              <a:t> class that manages a collection of employees. The </a:t>
            </a:r>
            <a:r>
              <a:rPr b="0" i="0" lang="en-US" sz="1600" u="none" cap="none" strike="noStrike">
                <a:solidFill>
                  <a:srgbClr val="404040"/>
                </a:solidFill>
                <a:latin typeface="Arial"/>
                <a:ea typeface="Arial"/>
                <a:cs typeface="Arial"/>
                <a:sym typeface="Arial"/>
              </a:rPr>
              <a:t>Payroll</a:t>
            </a:r>
            <a:r>
              <a:rPr b="0" i="0" lang="en-US" sz="1600" u="none" cap="none" strike="noStrike">
                <a:solidFill>
                  <a:srgbClr val="404040"/>
                </a:solidFill>
                <a:latin typeface="Inter"/>
                <a:ea typeface="Inter"/>
                <a:cs typeface="Inter"/>
                <a:sym typeface="Inter"/>
              </a:rPr>
              <a:t> class should have the following methods:</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addEmployee(Employee employee)</a:t>
            </a:r>
            <a:r>
              <a:rPr b="0" i="0" lang="en-US" sz="1600" u="none" cap="none" strike="noStrike">
                <a:solidFill>
                  <a:srgbClr val="404040"/>
                </a:solidFill>
                <a:latin typeface="Inter"/>
                <a:ea typeface="Inter"/>
                <a:cs typeface="Inter"/>
                <a:sym typeface="Inter"/>
              </a:rPr>
              <a:t>: Adds an employee to the payroll.</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calculateAllSalaries()</a:t>
            </a:r>
            <a:r>
              <a:rPr b="0" i="0" lang="en-US" sz="1600" u="none" cap="none" strike="noStrike">
                <a:solidFill>
                  <a:srgbClr val="404040"/>
                </a:solidFill>
                <a:latin typeface="Inter"/>
                <a:ea typeface="Inter"/>
                <a:cs typeface="Inter"/>
                <a:sym typeface="Inter"/>
              </a:rPr>
              <a:t>: Calculates and displays the salaries of all employees.</a:t>
            </a:r>
            <a:endParaRPr/>
          </a:p>
          <a:p>
            <a:pPr indent="-101600" lvl="1" marL="457200" marR="0" rtl="0" algn="l">
              <a:lnSpc>
                <a:spcPct val="100000"/>
              </a:lnSpc>
              <a:spcBef>
                <a:spcPts val="0"/>
              </a:spcBef>
              <a:spcAft>
                <a:spcPts val="0"/>
              </a:spcAft>
              <a:buClr>
                <a:srgbClr val="404040"/>
              </a:buClr>
              <a:buSzPts val="1600"/>
              <a:buFont typeface="Arial"/>
              <a:buChar char="•"/>
            </a:pPr>
            <a:r>
              <a:rPr b="0" i="0" lang="en-US" sz="1600" u="none" cap="none" strike="noStrike">
                <a:solidFill>
                  <a:srgbClr val="404040"/>
                </a:solidFill>
                <a:latin typeface="Arial"/>
                <a:ea typeface="Arial"/>
                <a:cs typeface="Arial"/>
                <a:sym typeface="Arial"/>
              </a:rPr>
              <a:t>findEmployeeById(String employeeId)</a:t>
            </a:r>
            <a:r>
              <a:rPr b="0" i="0" lang="en-US" sz="1600" u="none" cap="none" strike="noStrike">
                <a:solidFill>
                  <a:srgbClr val="404040"/>
                </a:solidFill>
                <a:latin typeface="Inter"/>
                <a:ea typeface="Inter"/>
                <a:cs typeface="Inter"/>
                <a:sym typeface="Inter"/>
              </a:rPr>
              <a:t>: Finds and returns an employee by their ID.</a:t>
            </a:r>
            <a:endParaRPr/>
          </a:p>
          <a:p>
            <a:pPr indent="-101600" lvl="0" marL="0" marR="0" rtl="0" algn="l">
              <a:lnSpc>
                <a:spcPct val="100000"/>
              </a:lnSpc>
              <a:spcBef>
                <a:spcPts val="0"/>
              </a:spcBef>
              <a:spcAft>
                <a:spcPts val="0"/>
              </a:spcAft>
              <a:buClr>
                <a:srgbClr val="404040"/>
              </a:buClr>
              <a:buSzPts val="1600"/>
              <a:buFont typeface="Inter"/>
              <a:buAutoNum type="arabicPeriod"/>
            </a:pPr>
            <a:r>
              <a:rPr b="0" i="0" lang="en-US" sz="1600" u="none" cap="none" strike="noStrike">
                <a:solidFill>
                  <a:srgbClr val="404040"/>
                </a:solidFill>
                <a:latin typeface="Inter"/>
                <a:ea typeface="Inter"/>
                <a:cs typeface="Inter"/>
                <a:sym typeface="Inter"/>
              </a:rPr>
              <a:t>Create a </a:t>
            </a:r>
            <a:r>
              <a:rPr b="0" i="0" lang="en-US" sz="1600" u="none" cap="none" strike="noStrike">
                <a:solidFill>
                  <a:srgbClr val="404040"/>
                </a:solidFill>
                <a:latin typeface="Arial"/>
                <a:ea typeface="Arial"/>
                <a:cs typeface="Arial"/>
                <a:sym typeface="Arial"/>
              </a:rPr>
              <a:t>Main</a:t>
            </a:r>
            <a:r>
              <a:rPr b="0" i="0" lang="en-US" sz="1600" u="none" cap="none" strike="noStrike">
                <a:solidFill>
                  <a:srgbClr val="404040"/>
                </a:solidFill>
                <a:latin typeface="Inter"/>
                <a:ea typeface="Inter"/>
                <a:cs typeface="Inter"/>
                <a:sym typeface="Inter"/>
              </a:rPr>
              <a:t> class to test the functionality of the </a:t>
            </a:r>
            <a:r>
              <a:rPr b="0" i="0" lang="en-US" sz="1600" u="none" cap="none" strike="noStrike">
                <a:solidFill>
                  <a:srgbClr val="404040"/>
                </a:solidFill>
                <a:latin typeface="Arial"/>
                <a:ea typeface="Arial"/>
                <a:cs typeface="Arial"/>
                <a:sym typeface="Arial"/>
              </a:rPr>
              <a:t>Payroll</a:t>
            </a:r>
            <a:r>
              <a:rPr b="0" i="0" lang="en-US" sz="1600" u="none" cap="none" strike="noStrike">
                <a:solidFill>
                  <a:srgbClr val="404040"/>
                </a:solidFill>
                <a:latin typeface="Inter"/>
                <a:ea typeface="Inter"/>
                <a:cs typeface="Inter"/>
                <a:sym typeface="Inter"/>
              </a:rPr>
              <a:t> class.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31" name="Google Shape;231;p21"/>
          <p:cNvSpPr/>
          <p:nvPr/>
        </p:nvSpPr>
        <p:spPr>
          <a:xfrm>
            <a:off x="0" y="5810204"/>
            <a:ext cx="12192000"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404040"/>
              </a:buClr>
              <a:buSzPts val="1600"/>
              <a:buFont typeface="Inter"/>
              <a:buNone/>
            </a:pPr>
            <a:r>
              <a:rPr b="1" i="0" lang="en-US" sz="1600" u="none" cap="none" strike="noStrike">
                <a:solidFill>
                  <a:srgbClr val="404040"/>
                </a:solidFill>
                <a:latin typeface="Inter"/>
                <a:ea typeface="Inter"/>
                <a:cs typeface="Inter"/>
                <a:sym typeface="Inter"/>
              </a:rPr>
              <a:t>Question:</a:t>
            </a:r>
            <a:endParaRPr/>
          </a:p>
          <a:p>
            <a:pPr indent="0" lvl="0" marL="0" marR="0" rtl="0" algn="l">
              <a:lnSpc>
                <a:spcPct val="100000"/>
              </a:lnSpc>
              <a:spcBef>
                <a:spcPts val="0"/>
              </a:spcBef>
              <a:spcAft>
                <a:spcPts val="0"/>
              </a:spcAft>
              <a:buClr>
                <a:srgbClr val="404040"/>
              </a:buClr>
              <a:buSzPts val="1600"/>
              <a:buFont typeface="Inter"/>
              <a:buNone/>
            </a:pPr>
            <a:r>
              <a:rPr b="0" i="0" lang="en-US" sz="1600" u="none" cap="none" strike="noStrike">
                <a:solidFill>
                  <a:srgbClr val="404040"/>
                </a:solidFill>
                <a:latin typeface="Inter"/>
                <a:ea typeface="Inter"/>
                <a:cs typeface="Inter"/>
                <a:sym typeface="Inter"/>
              </a:rPr>
              <a:t>Write the Java code to implement the above scenario. Your code should include the </a:t>
            </a:r>
            <a:r>
              <a:rPr b="0" i="0" lang="en-US" sz="1600" u="none" cap="none" strike="noStrike">
                <a:solidFill>
                  <a:srgbClr val="404040"/>
                </a:solidFill>
                <a:latin typeface="Arial"/>
                <a:ea typeface="Arial"/>
                <a:cs typeface="Arial"/>
                <a:sym typeface="Arial"/>
              </a:rPr>
              <a:t>Employee</a:t>
            </a:r>
            <a:r>
              <a:rPr b="0" i="0" lang="en-US" sz="1600" u="none" cap="none" strike="noStrike">
                <a:solidFill>
                  <a:srgbClr val="404040"/>
                </a:solidFill>
                <a:latin typeface="Inter"/>
                <a:ea typeface="Inter"/>
                <a:cs typeface="Inter"/>
                <a:sym typeface="Inter"/>
              </a:rPr>
              <a:t> class, the </a:t>
            </a:r>
            <a:r>
              <a:rPr b="0" i="0" lang="en-US" sz="1600" u="none" cap="none" strike="noStrike">
                <a:solidFill>
                  <a:srgbClr val="404040"/>
                </a:solidFill>
                <a:latin typeface="Arial"/>
                <a:ea typeface="Arial"/>
                <a:cs typeface="Arial"/>
                <a:sym typeface="Arial"/>
              </a:rPr>
              <a:t>Payroll</a:t>
            </a:r>
            <a:r>
              <a:rPr b="0" i="0" lang="en-US" sz="1600" u="none" cap="none" strike="noStrike">
                <a:solidFill>
                  <a:srgbClr val="404040"/>
                </a:solidFill>
                <a:latin typeface="Inter"/>
                <a:ea typeface="Inter"/>
                <a:cs typeface="Inter"/>
                <a:sym typeface="Inter"/>
              </a:rPr>
              <a:t> class, and the </a:t>
            </a:r>
            <a:r>
              <a:rPr b="0" i="0" lang="en-US" sz="1600" u="none" cap="none" strike="noStrike">
                <a:solidFill>
                  <a:srgbClr val="404040"/>
                </a:solidFill>
                <a:latin typeface="Arial"/>
                <a:ea typeface="Arial"/>
                <a:cs typeface="Arial"/>
                <a:sym typeface="Arial"/>
              </a:rPr>
              <a:t>Main</a:t>
            </a:r>
            <a:r>
              <a:rPr b="0" i="0" lang="en-US" sz="1600" u="none" cap="none" strike="noStrike">
                <a:solidFill>
                  <a:srgbClr val="404040"/>
                </a:solidFill>
                <a:latin typeface="Inter"/>
                <a:ea typeface="Inter"/>
                <a:cs typeface="Inter"/>
                <a:sym typeface="Inter"/>
              </a:rPr>
              <a:t> class. Ensure that the </a:t>
            </a:r>
            <a:r>
              <a:rPr b="0" i="0" lang="en-US" sz="1600" u="none" cap="none" strike="noStrike">
                <a:solidFill>
                  <a:srgbClr val="404040"/>
                </a:solidFill>
                <a:latin typeface="Arial"/>
                <a:ea typeface="Arial"/>
                <a:cs typeface="Arial"/>
                <a:sym typeface="Arial"/>
              </a:rPr>
              <a:t>Main</a:t>
            </a:r>
            <a:r>
              <a:rPr b="0" i="0" lang="en-US" sz="1600" u="none" cap="none" strike="noStrike">
                <a:solidFill>
                  <a:srgbClr val="404040"/>
                </a:solidFill>
                <a:latin typeface="Inter"/>
                <a:ea typeface="Inter"/>
                <a:cs typeface="Inter"/>
                <a:sym typeface="Inter"/>
              </a:rPr>
              <a:t> class demonstrates adding employees, calculating salaries, applying deductions, and displaying employee details.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31c715c17d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37" name="Google Shape;237;g331c715c17d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38" name="Google Shape;238;g331c715c17d_0_0"/>
          <p:cNvPicPr preferRelativeResize="0"/>
          <p:nvPr/>
        </p:nvPicPr>
        <p:blipFill>
          <a:blip r:embed="rId3">
            <a:alphaModFix/>
          </a:blip>
          <a:stretch>
            <a:fillRect/>
          </a:stretch>
        </p:blipFill>
        <p:spPr>
          <a:xfrm>
            <a:off x="4793163" y="365125"/>
            <a:ext cx="2755564" cy="5811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31c715c17d_0_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44" name="Google Shape;244;g331c715c17d_0_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45" name="Google Shape;245;g331c715c17d_0_7"/>
          <p:cNvPicPr preferRelativeResize="0"/>
          <p:nvPr/>
        </p:nvPicPr>
        <p:blipFill>
          <a:blip r:embed="rId3">
            <a:alphaModFix/>
          </a:blip>
          <a:stretch>
            <a:fillRect/>
          </a:stretch>
        </p:blipFill>
        <p:spPr>
          <a:xfrm>
            <a:off x="838200" y="365125"/>
            <a:ext cx="4326050" cy="4181850"/>
          </a:xfrm>
          <a:prstGeom prst="rect">
            <a:avLst/>
          </a:prstGeom>
          <a:noFill/>
          <a:ln>
            <a:noFill/>
          </a:ln>
        </p:spPr>
      </p:pic>
      <p:pic>
        <p:nvPicPr>
          <p:cNvPr id="246" name="Google Shape;246;g331c715c17d_0_7"/>
          <p:cNvPicPr preferRelativeResize="0"/>
          <p:nvPr/>
        </p:nvPicPr>
        <p:blipFill>
          <a:blip r:embed="rId4">
            <a:alphaModFix/>
          </a:blip>
          <a:stretch>
            <a:fillRect/>
          </a:stretch>
        </p:blipFill>
        <p:spPr>
          <a:xfrm>
            <a:off x="5568825" y="389125"/>
            <a:ext cx="4391304" cy="4351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2025-02-15T19:46:55Z</dcterms:created>
  <dc:creator>ARIJIT DUTTA</dc:creator>
</cp:coreProperties>
</file>