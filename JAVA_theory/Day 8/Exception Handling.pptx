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LMwkJrdjaPc1lXbxGSYn5JL80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31e89afa8d_1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31e89afa8d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5183188" y="987425"/>
            <a:ext cx="6172200" cy="4873625"/>
          </a:xfrm>
          <a:prstGeom prst="rect">
            <a:avLst/>
          </a:prstGeom>
          <a:noFill/>
          <a:ln>
            <a:noFill/>
          </a:ln>
        </p:spPr>
      </p:sp>
      <p:sp>
        <p:nvSpPr>
          <p:cNvPr id="64" name="Google Shape;64;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Exception Handling in Java</a:t>
            </a:r>
            <a:endParaRPr/>
          </a:p>
        </p:txBody>
      </p:sp>
      <p:sp>
        <p:nvSpPr>
          <p:cNvPr id="85" name="Google Shape;8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Exception handling in Java is a mechanism to handle runtime errors, allowing the program to continue executing rather than abruptly terminating when an error occurs. </a:t>
            </a:r>
            <a:endParaRPr/>
          </a:p>
          <a:p>
            <a:pPr indent="-228600" lvl="0" marL="228600" rtl="0" algn="just">
              <a:lnSpc>
                <a:spcPct val="90000"/>
              </a:lnSpc>
              <a:spcBef>
                <a:spcPts val="1000"/>
              </a:spcBef>
              <a:spcAft>
                <a:spcPts val="0"/>
              </a:spcAft>
              <a:buClr>
                <a:schemeClr val="dk1"/>
              </a:buClr>
              <a:buSzPts val="2800"/>
              <a:buChar char="•"/>
            </a:pPr>
            <a:r>
              <a:rPr lang="en-US"/>
              <a:t>An</a:t>
            </a:r>
            <a:r>
              <a:rPr b="1" lang="en-US"/>
              <a:t> Exception </a:t>
            </a:r>
            <a:r>
              <a:rPr lang="en-US"/>
              <a:t>is an unwanted or unexpected event that occurs during the execution of a program (i.e., at </a:t>
            </a:r>
            <a:r>
              <a:rPr b="1" lang="en-US"/>
              <a:t>runtime</a:t>
            </a:r>
            <a:r>
              <a:rPr lang="en-US"/>
              <a:t>) and disrupts the normal flow of the program’s instructions.</a:t>
            </a:r>
            <a:endParaRPr/>
          </a:p>
          <a:p>
            <a:pPr indent="-228600" lvl="0" marL="228600" rtl="0" algn="just">
              <a:lnSpc>
                <a:spcPct val="90000"/>
              </a:lnSpc>
              <a:spcBef>
                <a:spcPts val="1000"/>
              </a:spcBef>
              <a:spcAft>
                <a:spcPts val="0"/>
              </a:spcAft>
              <a:buClr>
                <a:schemeClr val="dk1"/>
              </a:buClr>
              <a:buSzPts val="2800"/>
              <a:buChar char="•"/>
            </a:pPr>
            <a:r>
              <a:rPr lang="en-US"/>
              <a:t>Java provides a robust system for catching and handling exceptions through a combination of </a:t>
            </a:r>
            <a:r>
              <a:rPr b="1" lang="en-US"/>
              <a:t>try, catch, throw, throws, finally blocks and  Custom Exception handling</a:t>
            </a:r>
            <a:r>
              <a:rPr lang="en-US"/>
              <a:t>.</a:t>
            </a:r>
            <a:endParaRPr/>
          </a:p>
          <a:p>
            <a:pPr indent="-228600" lvl="0" marL="228600" rtl="0" algn="just">
              <a:lnSpc>
                <a:spcPct val="90000"/>
              </a:lnSpc>
              <a:spcBef>
                <a:spcPts val="1000"/>
              </a:spcBef>
              <a:spcAft>
                <a:spcPts val="0"/>
              </a:spcAft>
              <a:buClr>
                <a:schemeClr val="dk1"/>
              </a:buClr>
              <a:buSzPts val="2800"/>
              <a:buChar char="•"/>
            </a:pPr>
            <a:r>
              <a:rPr lang="en-US"/>
              <a:t>Examples….??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Exception Handling is Needed in Java:</a:t>
            </a:r>
            <a:endParaRPr/>
          </a:p>
        </p:txBody>
      </p:sp>
      <p:sp>
        <p:nvSpPr>
          <p:cNvPr id="91" name="Google Shape;9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Char char="•"/>
            </a:pPr>
            <a:r>
              <a:rPr lang="en-US" sz="2000"/>
              <a:t>Graceful Error Handling: Without exception handling, if an error occurs, the program will terminate abruptly, and no further processing can be done. </a:t>
            </a:r>
            <a:r>
              <a:rPr b="1" lang="en-US" sz="2000"/>
              <a:t>With exception handling, you can catch errors, display meaningful messages, and ensure the program doesn't just crash.</a:t>
            </a:r>
            <a:r>
              <a:rPr lang="en-US" sz="2000"/>
              <a:t> </a:t>
            </a:r>
            <a:r>
              <a:rPr b="1" lang="en-US" sz="2000"/>
              <a:t>This improves the user experience and system reliability.</a:t>
            </a:r>
            <a:endParaRPr/>
          </a:p>
          <a:p>
            <a:pPr indent="-228600" lvl="0" marL="228600" rtl="0" algn="just">
              <a:lnSpc>
                <a:spcPct val="90000"/>
              </a:lnSpc>
              <a:spcBef>
                <a:spcPts val="1000"/>
              </a:spcBef>
              <a:spcAft>
                <a:spcPts val="0"/>
              </a:spcAft>
              <a:buClr>
                <a:schemeClr val="dk1"/>
              </a:buClr>
              <a:buSzPts val="2000"/>
              <a:buChar char="•"/>
            </a:pPr>
            <a:r>
              <a:rPr b="1" lang="en-US" sz="2000"/>
              <a:t>Separation of Error-Handling Code</a:t>
            </a:r>
            <a:r>
              <a:rPr lang="en-US" sz="2000"/>
              <a:t>: With exception handling, error-handling code can be separated from the regular business logic. This leads to cleaner and more maintainable code, as the main flow isn't cluttered with error checks.</a:t>
            </a:r>
            <a:endParaRPr/>
          </a:p>
          <a:p>
            <a:pPr indent="-228600" lvl="0" marL="228600" rtl="0" algn="just">
              <a:lnSpc>
                <a:spcPct val="90000"/>
              </a:lnSpc>
              <a:spcBef>
                <a:spcPts val="1000"/>
              </a:spcBef>
              <a:spcAft>
                <a:spcPts val="0"/>
              </a:spcAft>
              <a:buClr>
                <a:schemeClr val="dk1"/>
              </a:buClr>
              <a:buSzPts val="2000"/>
              <a:buChar char="•"/>
            </a:pPr>
            <a:r>
              <a:rPr b="1" lang="en-US" sz="2000"/>
              <a:t>Recover from Errors</a:t>
            </a:r>
            <a:r>
              <a:rPr lang="en-US" sz="2000"/>
              <a:t>: By catching exceptions, you can decide on actions to recover from errors. For example, if a file is not found, you might prompt the user to select a different file, or you could try accessing an alternate source of data.</a:t>
            </a:r>
            <a:endParaRPr/>
          </a:p>
          <a:p>
            <a:pPr indent="-228600" lvl="0" marL="228600" rtl="0" algn="just">
              <a:lnSpc>
                <a:spcPct val="90000"/>
              </a:lnSpc>
              <a:spcBef>
                <a:spcPts val="1000"/>
              </a:spcBef>
              <a:spcAft>
                <a:spcPts val="0"/>
              </a:spcAft>
              <a:buClr>
                <a:schemeClr val="dk1"/>
              </a:buClr>
              <a:buSzPts val="2000"/>
              <a:buChar char="•"/>
            </a:pPr>
            <a:r>
              <a:rPr b="1" lang="en-US" sz="2000"/>
              <a:t>Debugging and Logging</a:t>
            </a:r>
            <a:r>
              <a:rPr lang="en-US" sz="2000"/>
              <a:t>: Exceptions can provide detailed information about what went wrong, including the type of exception and the stack trace (i.e., where in the code the exception occurred). This information is useful for debugging and diagnosing issue</a:t>
            </a:r>
            <a:endParaRPr b="1"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97" name="Google Shape;9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Char char="•"/>
            </a:pPr>
            <a:r>
              <a:rPr b="1" lang="en-US"/>
              <a:t>Prevent Program Crashes</a:t>
            </a:r>
            <a:r>
              <a:rPr lang="en-US"/>
              <a:t>: Exception handling helps prevent unexpected crashes by catching issues at runtime, ensuring that the program can handle them gracefully without exiting unexpectedly.</a:t>
            </a:r>
            <a:endParaRPr/>
          </a:p>
          <a:p>
            <a:pPr indent="-228600" lvl="0" marL="228600" rtl="0" algn="just">
              <a:lnSpc>
                <a:spcPct val="90000"/>
              </a:lnSpc>
              <a:spcBef>
                <a:spcPts val="1000"/>
              </a:spcBef>
              <a:spcAft>
                <a:spcPts val="0"/>
              </a:spcAft>
              <a:buClr>
                <a:schemeClr val="dk1"/>
              </a:buClr>
              <a:buSzPts val="2800"/>
              <a:buChar char="•"/>
            </a:pPr>
            <a:r>
              <a:rPr b="1" lang="en-US"/>
              <a:t>Maintainability</a:t>
            </a:r>
            <a:r>
              <a:rPr lang="en-US"/>
              <a:t>: Handling errors in a structured way with try-catch blocks and exception classes makes it easier to modify or extend the code. New types of errors can be added without affecting the rest of the code.</a:t>
            </a:r>
            <a:endParaRPr/>
          </a:p>
          <a:p>
            <a:pPr indent="-228600" lvl="0" marL="228600" rtl="0" algn="just">
              <a:lnSpc>
                <a:spcPct val="90000"/>
              </a:lnSpc>
              <a:spcBef>
                <a:spcPts val="1000"/>
              </a:spcBef>
              <a:spcAft>
                <a:spcPts val="0"/>
              </a:spcAft>
              <a:buClr>
                <a:schemeClr val="dk1"/>
              </a:buClr>
              <a:buSzPts val="2800"/>
              <a:buChar char="•"/>
            </a:pPr>
            <a:r>
              <a:rPr b="1" lang="en-US"/>
              <a:t>Custom Exceptions</a:t>
            </a:r>
            <a:r>
              <a:rPr lang="en-US"/>
              <a:t>: Java allows developers to create custom exception classes to represent specific error conditions unique to their application, providing more meaningful and precise error handling.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Java Exception Hierarchy</a:t>
            </a:r>
            <a:br>
              <a:rPr b="1" lang="en-US"/>
            </a:br>
            <a:endParaRPr/>
          </a:p>
        </p:txBody>
      </p:sp>
      <p:sp>
        <p:nvSpPr>
          <p:cNvPr id="103" name="Google Shape;103;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All exception and error types are subclasses of the </a:t>
            </a:r>
            <a:r>
              <a:rPr b="1" lang="en-US"/>
              <a:t>class Throwable</a:t>
            </a:r>
            <a:r>
              <a:rPr lang="en-US"/>
              <a:t>, which is </a:t>
            </a:r>
            <a:r>
              <a:rPr b="1" lang="en-US"/>
              <a:t>the base class of the hierarchy</a:t>
            </a:r>
            <a:r>
              <a:rPr lang="en-US"/>
              <a:t>.</a:t>
            </a:r>
            <a:endParaRPr/>
          </a:p>
          <a:p>
            <a:pPr indent="-228600" lvl="0" marL="228600" rtl="0" algn="just">
              <a:lnSpc>
                <a:spcPct val="90000"/>
              </a:lnSpc>
              <a:spcBef>
                <a:spcPts val="1000"/>
              </a:spcBef>
              <a:spcAft>
                <a:spcPts val="0"/>
              </a:spcAft>
              <a:buClr>
                <a:schemeClr val="dk1"/>
              </a:buClr>
              <a:buSzPts val="2800"/>
              <a:buChar char="•"/>
            </a:pPr>
            <a:r>
              <a:rPr b="1" lang="en-US"/>
              <a:t>One branch is headed by Exception</a:t>
            </a:r>
            <a:r>
              <a:rPr lang="en-US"/>
              <a:t>. This class is used for exceptional conditions that user programs should catch. NullPointerException is an example of such an exception.</a:t>
            </a:r>
            <a:endParaRPr/>
          </a:p>
          <a:p>
            <a:pPr indent="-228600" lvl="0" marL="228600" rtl="0" algn="just">
              <a:lnSpc>
                <a:spcPct val="90000"/>
              </a:lnSpc>
              <a:spcBef>
                <a:spcPts val="1000"/>
              </a:spcBef>
              <a:spcAft>
                <a:spcPts val="0"/>
              </a:spcAft>
              <a:buClr>
                <a:schemeClr val="dk1"/>
              </a:buClr>
              <a:buSzPts val="2800"/>
              <a:buChar char="•"/>
            </a:pPr>
            <a:r>
              <a:rPr b="1" lang="en-US"/>
              <a:t>Another branch, Error </a:t>
            </a:r>
            <a:r>
              <a:rPr lang="en-US"/>
              <a:t>is used by the Java run-time system(JVM) to indicate errors having to do with the run-time environment itself(JRE). StackOverflowError is an example of such an error.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9" name="Google Shape;109;p6"/>
          <p:cNvPicPr preferRelativeResize="0"/>
          <p:nvPr>
            <p:ph idx="1" type="body"/>
          </p:nvPr>
        </p:nvPicPr>
        <p:blipFill rotWithShape="1">
          <a:blip r:embed="rId3">
            <a:alphaModFix/>
          </a:blip>
          <a:srcRect b="0" l="0" r="0" t="0"/>
          <a:stretch/>
        </p:blipFill>
        <p:spPr>
          <a:xfrm>
            <a:off x="838200" y="1987317"/>
            <a:ext cx="10515600" cy="40279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Exception</a:t>
            </a:r>
            <a:endParaRPr/>
          </a:p>
        </p:txBody>
      </p:sp>
      <p:sp>
        <p:nvSpPr>
          <p:cNvPr id="115" name="Google Shape;115;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1. Checked Exception</a:t>
            </a:r>
            <a:endParaRPr/>
          </a:p>
          <a:p>
            <a:pPr indent="0" lvl="0" marL="0" rtl="0" algn="l">
              <a:lnSpc>
                <a:spcPct val="90000"/>
              </a:lnSpc>
              <a:spcBef>
                <a:spcPts val="1000"/>
              </a:spcBef>
              <a:spcAft>
                <a:spcPts val="0"/>
              </a:spcAft>
              <a:buClr>
                <a:schemeClr val="dk1"/>
              </a:buClr>
              <a:buSzPts val="2800"/>
              <a:buNone/>
            </a:pPr>
            <a:r>
              <a:rPr lang="en-US"/>
              <a:t>2. Unchecked Exception</a:t>
            </a:r>
            <a:endParaRPr/>
          </a:p>
          <a:p>
            <a:pPr indent="0" lvl="0" marL="0" rtl="0" algn="l">
              <a:lnSpc>
                <a:spcPct val="90000"/>
              </a:lnSpc>
              <a:spcBef>
                <a:spcPts val="1000"/>
              </a:spcBef>
              <a:spcAft>
                <a:spcPts val="0"/>
              </a:spcAft>
              <a:buClr>
                <a:schemeClr val="dk1"/>
              </a:buClr>
              <a:buSzPts val="2800"/>
              <a:buNone/>
            </a:pPr>
            <a:r>
              <a:rPr lang="en-US"/>
              <a:t>3. Error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1" name="Google Shape;12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chemeClr val="dk1"/>
              </a:buClr>
              <a:buSzPct val="100000"/>
              <a:buNone/>
            </a:pPr>
            <a:r>
              <a:rPr b="1" lang="en-US"/>
              <a:t>1. Checked Exception in Java:</a:t>
            </a:r>
            <a:r>
              <a:rPr lang="en-US"/>
              <a:t> The exception classes which directly inherit from the Throwable class with an exception of RuntimeException and Error are checked exceptions. They are checked during compilation time. For example: IOException, SQLException, ClassnotFound, etc.</a:t>
            </a:r>
            <a:endParaRPr/>
          </a:p>
          <a:p>
            <a:pPr indent="0" lvl="0" marL="0" rtl="0" algn="just">
              <a:lnSpc>
                <a:spcPct val="90000"/>
              </a:lnSpc>
              <a:spcBef>
                <a:spcPts val="1000"/>
              </a:spcBef>
              <a:spcAft>
                <a:spcPts val="0"/>
              </a:spcAft>
              <a:buClr>
                <a:schemeClr val="dk1"/>
              </a:buClr>
              <a:buSzPct val="100000"/>
              <a:buNone/>
            </a:pPr>
            <a:r>
              <a:rPr b="1" lang="en-US"/>
              <a:t>2. Unchecked Exception in Java:</a:t>
            </a:r>
            <a:r>
              <a:rPr lang="en-US"/>
              <a:t> The exception classes inheriting the RuntimeException class are unchecked exceptions. They are not checked at compilation time but during runtime. For example: ArithmeticException, IndexOutOfBOundException, etc.</a:t>
            </a:r>
            <a:endParaRPr/>
          </a:p>
          <a:p>
            <a:pPr indent="0" lvl="0" marL="0" rtl="0" algn="just">
              <a:lnSpc>
                <a:spcPct val="90000"/>
              </a:lnSpc>
              <a:spcBef>
                <a:spcPts val="1000"/>
              </a:spcBef>
              <a:spcAft>
                <a:spcPts val="0"/>
              </a:spcAft>
              <a:buClr>
                <a:schemeClr val="dk1"/>
              </a:buClr>
              <a:buSzPct val="100000"/>
              <a:buNone/>
            </a:pPr>
            <a:r>
              <a:rPr b="1" lang="en-US"/>
              <a:t>3. Error in Java:</a:t>
            </a:r>
            <a:r>
              <a:rPr lang="en-US"/>
              <a:t> The exceptions which are irrecoverable are known as errors. They are also checked at runtime. For Example: OutOfMemoryError, VirtualMachineError, etc.</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 Syntax of Exception Handling in Java:</a:t>
            </a:r>
            <a:endParaRPr/>
          </a:p>
        </p:txBody>
      </p:sp>
      <p:sp>
        <p:nvSpPr>
          <p:cNvPr id="127" name="Google Shape;12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Try-Catch Block</a:t>
            </a:r>
            <a:r>
              <a:rPr lang="en-US"/>
              <a:t>: This block is used to catch exceptions during runtime.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28" name="Google Shape;128;p9"/>
          <p:cNvPicPr preferRelativeResize="0"/>
          <p:nvPr/>
        </p:nvPicPr>
        <p:blipFill rotWithShape="1">
          <a:blip r:embed="rId3">
            <a:alphaModFix/>
          </a:blip>
          <a:srcRect b="0" l="0" r="0" t="0"/>
          <a:stretch/>
        </p:blipFill>
        <p:spPr>
          <a:xfrm>
            <a:off x="1184647" y="3017399"/>
            <a:ext cx="7869250" cy="236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4" name="Google Shape;134;p10"/>
          <p:cNvPicPr preferRelativeResize="0"/>
          <p:nvPr>
            <p:ph idx="1" type="body"/>
          </p:nvPr>
        </p:nvPicPr>
        <p:blipFill rotWithShape="1">
          <a:blip r:embed="rId3">
            <a:alphaModFix/>
          </a:blip>
          <a:srcRect b="0" l="0" r="0" t="0"/>
          <a:stretch/>
        </p:blipFill>
        <p:spPr>
          <a:xfrm>
            <a:off x="0" y="1825625"/>
            <a:ext cx="6264600" cy="3839100"/>
          </a:xfrm>
          <a:prstGeom prst="rect">
            <a:avLst/>
          </a:prstGeom>
          <a:noFill/>
          <a:ln>
            <a:noFill/>
          </a:ln>
        </p:spPr>
      </p:pic>
      <p:sp>
        <p:nvSpPr>
          <p:cNvPr id="135" name="Google Shape;135;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just">
              <a:lnSpc>
                <a:spcPct val="90000"/>
              </a:lnSpc>
              <a:spcBef>
                <a:spcPts val="0"/>
              </a:spcBef>
              <a:spcAft>
                <a:spcPts val="0"/>
              </a:spcAft>
              <a:buClr>
                <a:schemeClr val="dk1"/>
              </a:buClr>
              <a:buSzPct val="100000"/>
              <a:buChar char="•"/>
            </a:pPr>
            <a:r>
              <a:rPr lang="en-US"/>
              <a:t>Explanation:</a:t>
            </a:r>
            <a:endParaRPr/>
          </a:p>
          <a:p>
            <a:pPr indent="-228600" lvl="0" marL="228600" rtl="0" algn="just">
              <a:lnSpc>
                <a:spcPct val="90000"/>
              </a:lnSpc>
              <a:spcBef>
                <a:spcPts val="1000"/>
              </a:spcBef>
              <a:spcAft>
                <a:spcPts val="0"/>
              </a:spcAft>
              <a:buClr>
                <a:schemeClr val="dk1"/>
              </a:buClr>
              <a:buSzPct val="100000"/>
              <a:buChar char="•"/>
            </a:pPr>
            <a:r>
              <a:rPr b="1" lang="en-US"/>
              <a:t>try block:</a:t>
            </a:r>
            <a:endParaRPr/>
          </a:p>
          <a:p>
            <a:pPr indent="-228600" lvl="0" marL="228600" rtl="0" algn="just">
              <a:lnSpc>
                <a:spcPct val="90000"/>
              </a:lnSpc>
              <a:spcBef>
                <a:spcPts val="1000"/>
              </a:spcBef>
              <a:spcAft>
                <a:spcPts val="0"/>
              </a:spcAft>
              <a:buClr>
                <a:schemeClr val="dk1"/>
              </a:buClr>
              <a:buSzPct val="100000"/>
              <a:buChar char="•"/>
            </a:pPr>
            <a:r>
              <a:rPr lang="en-US"/>
              <a:t>The code inside the try block is executed. Here, we attempt to divide num1 (10) by num2 (0), which will throw an ArithmeticException because division by zero is not allowed in Java.</a:t>
            </a:r>
            <a:endParaRPr/>
          </a:p>
          <a:p>
            <a:pPr indent="-228600" lvl="0" marL="228600" rtl="0" algn="just">
              <a:lnSpc>
                <a:spcPct val="90000"/>
              </a:lnSpc>
              <a:spcBef>
                <a:spcPts val="1000"/>
              </a:spcBef>
              <a:spcAft>
                <a:spcPts val="0"/>
              </a:spcAft>
              <a:buClr>
                <a:schemeClr val="dk1"/>
              </a:buClr>
              <a:buSzPct val="100000"/>
              <a:buChar char="•"/>
            </a:pPr>
            <a:r>
              <a:rPr b="1" lang="en-US"/>
              <a:t>catch block: </a:t>
            </a:r>
            <a:endParaRPr/>
          </a:p>
          <a:p>
            <a:pPr indent="-228600" lvl="0" marL="228600" rtl="0" algn="just">
              <a:lnSpc>
                <a:spcPct val="90000"/>
              </a:lnSpc>
              <a:spcBef>
                <a:spcPts val="1000"/>
              </a:spcBef>
              <a:spcAft>
                <a:spcPts val="0"/>
              </a:spcAft>
              <a:buClr>
                <a:schemeClr val="dk1"/>
              </a:buClr>
              <a:buSzPct val="100000"/>
              <a:buChar char="•"/>
            </a:pPr>
            <a:r>
              <a:rPr lang="en-US"/>
              <a:t>If an exception occurs in the try block, the control is passed to the catch block. In this case, catch (ArithmeticException e) catches the ArithmeticException thrown by the division by zero.</a:t>
            </a:r>
            <a:endParaRPr/>
          </a:p>
          <a:p>
            <a:pPr indent="-228600" lvl="0" marL="228600" rtl="0" algn="just">
              <a:lnSpc>
                <a:spcPct val="90000"/>
              </a:lnSpc>
              <a:spcBef>
                <a:spcPts val="1000"/>
              </a:spcBef>
              <a:spcAft>
                <a:spcPts val="0"/>
              </a:spcAft>
              <a:buClr>
                <a:schemeClr val="dk1"/>
              </a:buClr>
              <a:buSzPct val="100000"/>
              <a:buChar char="•"/>
            </a:pPr>
            <a:r>
              <a:rPr lang="en-US"/>
              <a:t>The catch block handles the exception by printing a friendly error message and the exception's message.</a:t>
            </a:r>
            <a:endParaRPr/>
          </a:p>
          <a:p>
            <a:pPr indent="-228600" lvl="0" marL="228600" rtl="0" algn="just">
              <a:lnSpc>
                <a:spcPct val="90000"/>
              </a:lnSpc>
              <a:spcBef>
                <a:spcPts val="1000"/>
              </a:spcBef>
              <a:spcAft>
                <a:spcPts val="0"/>
              </a:spcAft>
              <a:buClr>
                <a:schemeClr val="dk1"/>
              </a:buClr>
              <a:buSzPct val="100000"/>
              <a:buChar char="•"/>
            </a:pPr>
            <a:r>
              <a:rPr b="1" lang="en-US"/>
              <a:t>Program Continuation:</a:t>
            </a:r>
            <a:endParaRPr/>
          </a:p>
          <a:p>
            <a:pPr indent="-228600" lvl="0" marL="228600" rtl="0" algn="just">
              <a:lnSpc>
                <a:spcPct val="90000"/>
              </a:lnSpc>
              <a:spcBef>
                <a:spcPts val="1000"/>
              </a:spcBef>
              <a:spcAft>
                <a:spcPts val="0"/>
              </a:spcAft>
              <a:buClr>
                <a:schemeClr val="dk1"/>
              </a:buClr>
              <a:buSzPct val="100000"/>
              <a:buChar char="•"/>
            </a:pPr>
            <a:r>
              <a:rPr lang="en-US"/>
              <a:t>After handling the exception, the program continues execution with the next statement after the try-catch blocks, ensuring that the program doesn't crash due to the exception.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Handling Multiple Exceptions</a:t>
            </a:r>
            <a:endParaRPr/>
          </a:p>
        </p:txBody>
      </p:sp>
      <p:pic>
        <p:nvPicPr>
          <p:cNvPr id="141" name="Google Shape;141;p11"/>
          <p:cNvPicPr preferRelativeResize="0"/>
          <p:nvPr>
            <p:ph idx="1" type="body"/>
          </p:nvPr>
        </p:nvPicPr>
        <p:blipFill rotWithShape="1">
          <a:blip r:embed="rId3">
            <a:alphaModFix/>
          </a:blip>
          <a:srcRect b="0" l="0" r="0" t="0"/>
          <a:stretch/>
        </p:blipFill>
        <p:spPr>
          <a:xfrm>
            <a:off x="1" y="1391200"/>
            <a:ext cx="11585400" cy="5466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3: Catching Multiple Exception Types in a Single catch Block (Java 7 and later)</a:t>
            </a:r>
            <a:endParaRPr/>
          </a:p>
        </p:txBody>
      </p:sp>
      <p:pic>
        <p:nvPicPr>
          <p:cNvPr id="147" name="Google Shape;147;p12"/>
          <p:cNvPicPr preferRelativeResize="0"/>
          <p:nvPr>
            <p:ph idx="1" type="body"/>
          </p:nvPr>
        </p:nvPicPr>
        <p:blipFill rotWithShape="1">
          <a:blip r:embed="rId3">
            <a:alphaModFix/>
          </a:blip>
          <a:srcRect b="0" l="0" r="0" t="0"/>
          <a:stretch/>
        </p:blipFill>
        <p:spPr>
          <a:xfrm>
            <a:off x="838202" y="1955698"/>
            <a:ext cx="8702700" cy="4902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Nested try:</a:t>
            </a:r>
            <a:endParaRPr/>
          </a:p>
        </p:txBody>
      </p:sp>
      <p:sp>
        <p:nvSpPr>
          <p:cNvPr id="153" name="Google Shape;15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In Java, you can have nested try blocks, </a:t>
            </a:r>
            <a:r>
              <a:rPr b="1" lang="en-US"/>
              <a:t>meaning a try block inside another try block.</a:t>
            </a:r>
            <a:endParaRPr/>
          </a:p>
          <a:p>
            <a:pPr indent="-228600" lvl="0" marL="228600" rtl="0" algn="just">
              <a:lnSpc>
                <a:spcPct val="90000"/>
              </a:lnSpc>
              <a:spcBef>
                <a:spcPts val="1000"/>
              </a:spcBef>
              <a:spcAft>
                <a:spcPts val="0"/>
              </a:spcAft>
              <a:buClr>
                <a:schemeClr val="dk1"/>
              </a:buClr>
              <a:buSzPts val="2800"/>
              <a:buChar char="•"/>
            </a:pPr>
            <a:r>
              <a:rPr lang="en-US"/>
              <a:t>This can be useful when you have different levels of exception handling or when a certain block of code within a larger try needs its own specific error handling.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9" name="Google Shape;159;p14"/>
          <p:cNvPicPr preferRelativeResize="0"/>
          <p:nvPr>
            <p:ph idx="1" type="body"/>
          </p:nvPr>
        </p:nvPicPr>
        <p:blipFill rotWithShape="1">
          <a:blip r:embed="rId3">
            <a:alphaModFix/>
          </a:blip>
          <a:srcRect b="0" l="0" r="0" t="0"/>
          <a:stretch/>
        </p:blipFill>
        <p:spPr>
          <a:xfrm>
            <a:off x="1" y="-1"/>
            <a:ext cx="10848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65" name="Google Shape;165;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Throw Statement: </a:t>
            </a:r>
            <a:r>
              <a:rPr lang="en-US"/>
              <a:t>The throw keyword is used to explicitly throw an exception.</a:t>
            </a:r>
            <a:endParaRPr/>
          </a:p>
        </p:txBody>
      </p:sp>
      <p:pic>
        <p:nvPicPr>
          <p:cNvPr id="166" name="Google Shape;166;p15"/>
          <p:cNvPicPr preferRelativeResize="0"/>
          <p:nvPr/>
        </p:nvPicPr>
        <p:blipFill rotWithShape="1">
          <a:blip r:embed="rId3">
            <a:alphaModFix/>
          </a:blip>
          <a:srcRect b="0" l="0" r="0" t="0"/>
          <a:stretch/>
        </p:blipFill>
        <p:spPr>
          <a:xfrm>
            <a:off x="1193074" y="3275617"/>
            <a:ext cx="7132320" cy="108737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72" name="Google Shape;172;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t>Throws Statement: </a:t>
            </a:r>
            <a:r>
              <a:rPr lang="en-US"/>
              <a:t>The throws keyword is used in method declarations to indicate that a method may throw an exception.</a:t>
            </a:r>
            <a:endParaRPr/>
          </a:p>
        </p:txBody>
      </p:sp>
      <p:pic>
        <p:nvPicPr>
          <p:cNvPr id="173" name="Google Shape;173;p16"/>
          <p:cNvPicPr preferRelativeResize="0"/>
          <p:nvPr/>
        </p:nvPicPr>
        <p:blipFill rotWithShape="1">
          <a:blip r:embed="rId3">
            <a:alphaModFix/>
          </a:blip>
          <a:srcRect b="0" l="0" r="0" t="0"/>
          <a:stretch/>
        </p:blipFill>
        <p:spPr>
          <a:xfrm>
            <a:off x="1123406" y="2998005"/>
            <a:ext cx="6536086" cy="12953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79" name="Google Shape;17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t>Finally Block: </a:t>
            </a:r>
            <a:r>
              <a:rPr lang="en-US"/>
              <a:t>A finally block will always execute, regardless of whether an exception was thrown or not. It is typically used to release resources (like closing files or database connections).</a:t>
            </a:r>
            <a:endParaRPr/>
          </a:p>
        </p:txBody>
      </p:sp>
      <p:pic>
        <p:nvPicPr>
          <p:cNvPr id="180" name="Google Shape;180;p17"/>
          <p:cNvPicPr preferRelativeResize="0"/>
          <p:nvPr/>
        </p:nvPicPr>
        <p:blipFill rotWithShape="1">
          <a:blip r:embed="rId3">
            <a:alphaModFix/>
          </a:blip>
          <a:srcRect b="0" l="0" r="0" t="0"/>
          <a:stretch/>
        </p:blipFill>
        <p:spPr>
          <a:xfrm>
            <a:off x="1163725" y="3294972"/>
            <a:ext cx="5437372" cy="215659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g331e89afa8d_13_0"/>
          <p:cNvPicPr preferRelativeResize="0"/>
          <p:nvPr/>
        </p:nvPicPr>
        <p:blipFill>
          <a:blip r:embed="rId3">
            <a:alphaModFix/>
          </a:blip>
          <a:stretch>
            <a:fillRect/>
          </a:stretch>
        </p:blipFill>
        <p:spPr>
          <a:xfrm>
            <a:off x="0" y="0"/>
            <a:ext cx="12192000" cy="68580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2025-02-24T04:27:31Z</dcterms:created>
  <dc:creator>Amol Kamble</dc:creator>
</cp:coreProperties>
</file>